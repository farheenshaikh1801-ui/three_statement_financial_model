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sldIdLst>
    <p:sldId id="256" r:id="rId2"/>
    <p:sldId id="257" r:id="rId3"/>
    <p:sldId id="258" r:id="rId4"/>
    <p:sldId id="261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D582C"/>
    <a:srgbClr val="F57523"/>
    <a:srgbClr val="6B6B6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68" d="100"/>
          <a:sy n="68" d="100"/>
        </p:scale>
        <p:origin x="61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600" dirty="0"/>
              <a:t>Revenue ($mm</a:t>
            </a:r>
            <a:r>
              <a:rPr lang="en-US" sz="1600" dirty="0" smtClean="0"/>
              <a:t>) By Geography</a:t>
            </a:r>
            <a:endParaRPr lang="en-US" sz="1600" dirty="0"/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($mm)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North America</c:v>
                </c:pt>
                <c:pt idx="1">
                  <c:v>Europe, Middle East &amp; Africa</c:v>
                </c:pt>
                <c:pt idx="2">
                  <c:v>Greater China</c:v>
                </c:pt>
                <c:pt idx="3">
                  <c:v>Asia Pacific &amp; Latin America</c:v>
                </c:pt>
                <c:pt idx="4">
                  <c:v>Global Brand Divisions</c:v>
                </c:pt>
              </c:strCache>
            </c:strRef>
          </c:cat>
          <c:val>
            <c:numRef>
              <c:f>Sheet1!$B$2:$B$6</c:f>
              <c:numCache>
                <c:formatCode>#,##0;\(#,##0\);0</c:formatCode>
                <c:ptCount val="5"/>
                <c:pt idx="0">
                  <c:v>20511</c:v>
                </c:pt>
                <c:pt idx="1">
                  <c:v>12572</c:v>
                </c:pt>
                <c:pt idx="2">
                  <c:v>5847</c:v>
                </c:pt>
                <c:pt idx="3">
                  <c:v>6243</c:v>
                </c:pt>
                <c:pt idx="4">
                  <c:v>49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C56-44BD-A456-A9CEADD05C0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930156240"/>
        <c:axId val="930157488"/>
      </c:barChart>
      <c:catAx>
        <c:axId val="930156240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30157488"/>
        <c:crosses val="autoZero"/>
        <c:auto val="1"/>
        <c:lblAlgn val="ctr"/>
        <c:lblOffset val="100"/>
        <c:noMultiLvlLbl val="0"/>
      </c:catAx>
      <c:valAx>
        <c:axId val="930157488"/>
        <c:scaling>
          <c:orientation val="minMax"/>
        </c:scaling>
        <c:delete val="0"/>
        <c:axPos val="b"/>
        <c:numFmt formatCode="#,##0;\(#,##0\);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3015624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800" b="0" i="0" baseline="0" dirty="0" smtClean="0">
                <a:effectLst/>
              </a:rPr>
              <a:t>Revenue (%) By Product</a:t>
            </a:r>
            <a:endParaRPr lang="en-US" dirty="0">
              <a:effectLst/>
            </a:endParaRPr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($mm)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6C44-4F05-B948-D12625643716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6C44-4F05-B948-D12625643716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6C44-4F05-B948-D12625643716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6C44-4F05-B948-D12625643716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layout/>
              </c:ext>
            </c:extLst>
          </c:dLbls>
          <c:cat>
            <c:strRef>
              <c:f>Sheet1!$A$2:$A$5</c:f>
              <c:strCache>
                <c:ptCount val="4"/>
                <c:pt idx="0">
                  <c:v>Footwear</c:v>
                </c:pt>
                <c:pt idx="1">
                  <c:v>Apparel</c:v>
                </c:pt>
                <c:pt idx="2">
                  <c:v>Equipment</c:v>
                </c:pt>
                <c:pt idx="3">
                  <c:v>Global Brand Divisions</c:v>
                </c:pt>
              </c:strCache>
            </c:strRef>
          </c:cat>
          <c:val>
            <c:numRef>
              <c:f>Sheet1!$B$2:$B$5</c:f>
              <c:numCache>
                <c:formatCode>0.0%</c:formatCode>
                <c:ptCount val="4"/>
                <c:pt idx="0">
                  <c:v>0.65289018619256112</c:v>
                </c:pt>
                <c:pt idx="1">
                  <c:v>0.29739949582061831</c:v>
                </c:pt>
                <c:pt idx="2">
                  <c:v>4.8626774578744862E-2</c:v>
                </c:pt>
                <c:pt idx="3">
                  <c:v>1.0835434080757153E-3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0FA-4DEB-B381-D21AE21E253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ROE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Sheet1!$A$2:$A$6</c:f>
              <c:numCache>
                <c:formatCode>General</c:formatCode>
                <c:ptCount val="5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  <c:pt idx="4">
                  <c:v>2026</c:v>
                </c:pt>
              </c:numCache>
            </c:numRef>
          </c:cat>
          <c:val>
            <c:numRef>
              <c:f>Sheet1!$B$2:$B$6</c:f>
              <c:numCache>
                <c:formatCode>0.0%</c:formatCode>
                <c:ptCount val="5"/>
                <c:pt idx="0">
                  <c:v>0.3956547346377855</c:v>
                </c:pt>
                <c:pt idx="1">
                  <c:v>0.36203941730934019</c:v>
                </c:pt>
                <c:pt idx="2">
                  <c:v>0.39501039501039503</c:v>
                </c:pt>
                <c:pt idx="3">
                  <c:v>0.24362370392794974</c:v>
                </c:pt>
                <c:pt idx="4">
                  <c:v>0.20908173562058527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5DC-4C04-92A4-312A30480C1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ROA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Sheet1!$A$2:$A$6</c:f>
              <c:numCache>
                <c:formatCode>General</c:formatCode>
                <c:ptCount val="5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  <c:pt idx="4">
                  <c:v>2026</c:v>
                </c:pt>
              </c:numCache>
            </c:numRef>
          </c:cat>
          <c:val>
            <c:numRef>
              <c:f>Sheet1!$C$2:$C$6</c:f>
              <c:numCache>
                <c:formatCode>0.0%</c:formatCode>
                <c:ptCount val="5"/>
                <c:pt idx="0">
                  <c:v>0.14994667790977406</c:v>
                </c:pt>
                <c:pt idx="1">
                  <c:v>0.13508832698302736</c:v>
                </c:pt>
                <c:pt idx="2">
                  <c:v>0.14956704277092628</c:v>
                </c:pt>
                <c:pt idx="3">
                  <c:v>8.800131222832773E-2</c:v>
                </c:pt>
                <c:pt idx="4">
                  <c:v>8.0916428013538141E-2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5DC-4C04-92A4-312A30480C1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925810544"/>
        <c:axId val="925818032"/>
      </c:barChart>
      <c:catAx>
        <c:axId val="92581054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25818032"/>
        <c:crosses val="autoZero"/>
        <c:auto val="1"/>
        <c:lblAlgn val="ctr"/>
        <c:lblOffset val="100"/>
        <c:noMultiLvlLbl val="0"/>
      </c:catAx>
      <c:valAx>
        <c:axId val="925818032"/>
        <c:scaling>
          <c:orientation val="minMax"/>
          <c:max val="0.45"/>
        </c:scaling>
        <c:delete val="0"/>
        <c:axPos val="l"/>
        <c:numFmt formatCode="0.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2581054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Financial Leverage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Sheet1!$A$2:$A$6</c:f>
              <c:numCache>
                <c:formatCode>General</c:formatCode>
                <c:ptCount val="5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  <c:pt idx="4">
                  <c:v>2026</c:v>
                </c:pt>
              </c:numCache>
            </c:numRef>
          </c:cat>
          <c:val>
            <c:numRef>
              <c:f>Sheet1!$B$2:$B$6</c:f>
              <c:numCache>
                <c:formatCode>0.00"x"</c:formatCode>
                <c:ptCount val="5"/>
                <c:pt idx="0">
                  <c:v>2.64</c:v>
                </c:pt>
                <c:pt idx="1">
                  <c:v>2.68</c:v>
                </c:pt>
                <c:pt idx="2">
                  <c:v>2.64</c:v>
                </c:pt>
                <c:pt idx="3">
                  <c:v>2.77</c:v>
                </c:pt>
                <c:pt idx="4">
                  <c:v>2.58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5AC8-4D60-A810-38FC01A6F64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917103280"/>
        <c:axId val="917101616"/>
      </c:lineChart>
      <c:catAx>
        <c:axId val="91710328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17101616"/>
        <c:crosses val="autoZero"/>
        <c:auto val="1"/>
        <c:lblAlgn val="ctr"/>
        <c:lblOffset val="100"/>
        <c:noMultiLvlLbl val="0"/>
      </c:catAx>
      <c:valAx>
        <c:axId val="917101616"/>
        <c:scaling>
          <c:orientation val="minMax"/>
        </c:scaling>
        <c:delete val="0"/>
        <c:axPos val="l"/>
        <c:numFmt formatCode="0.00&quot;x&quot;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1710328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600" b="0" i="0" baseline="0" dirty="0" smtClean="0">
                <a:effectLst/>
              </a:rPr>
              <a:t>Revenue &amp; Gross Margin (%)</a:t>
            </a:r>
            <a:endParaRPr lang="en-US" sz="1800" dirty="0">
              <a:effectLst/>
            </a:endParaRPr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($)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numRef>
              <c:f>Sheet1!$A$2:$A$6</c:f>
              <c:numCache>
                <c:formatCode>General</c:formatCode>
                <c:ptCount val="5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  <c:pt idx="4">
                  <c:v>2026</c:v>
                </c:pt>
              </c:numCache>
            </c:numRef>
          </c:cat>
          <c:val>
            <c:numRef>
              <c:f>Sheet1!$B$2:$B$6</c:f>
              <c:numCache>
                <c:formatCode>#,##0</c:formatCode>
                <c:ptCount val="5"/>
                <c:pt idx="0">
                  <c:v>46710</c:v>
                </c:pt>
                <c:pt idx="1">
                  <c:v>51217</c:v>
                </c:pt>
                <c:pt idx="2">
                  <c:v>51362</c:v>
                </c:pt>
                <c:pt idx="3">
                  <c:v>46309</c:v>
                </c:pt>
                <c:pt idx="4">
                  <c:v>46398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F9F-42A2-A085-431FBE73941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252734239"/>
        <c:axId val="1252734655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Gross Margin(%)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Sheet1!$A$2:$A$6</c:f>
              <c:numCache>
                <c:formatCode>General</c:formatCode>
                <c:ptCount val="5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  <c:pt idx="4">
                  <c:v>2026</c:v>
                </c:pt>
              </c:numCache>
            </c:numRef>
          </c:cat>
          <c:val>
            <c:numRef>
              <c:f>Sheet1!$C$2:$C$6</c:f>
              <c:numCache>
                <c:formatCode>0.00%</c:formatCode>
                <c:ptCount val="5"/>
                <c:pt idx="0">
                  <c:v>0.45979999999999999</c:v>
                </c:pt>
                <c:pt idx="1">
                  <c:v>0.43519999999999998</c:v>
                </c:pt>
                <c:pt idx="2">
                  <c:v>0.4456</c:v>
                </c:pt>
                <c:pt idx="3">
                  <c:v>0.42730000000000001</c:v>
                </c:pt>
                <c:pt idx="4">
                  <c:v>0.42909999999999998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FF9F-42A2-A085-431FBE73941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525768911"/>
        <c:axId val="1525757679"/>
      </c:lineChart>
      <c:valAx>
        <c:axId val="1525757679"/>
        <c:scaling>
          <c:orientation val="minMax"/>
        </c:scaling>
        <c:delete val="0"/>
        <c:axPos val="r"/>
        <c:numFmt formatCode="0.00%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25768911"/>
        <c:crosses val="max"/>
        <c:crossBetween val="between"/>
      </c:valAx>
      <c:catAx>
        <c:axId val="1525768911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25757679"/>
        <c:auto val="1"/>
        <c:lblAlgn val="ctr"/>
        <c:lblOffset val="100"/>
        <c:noMultiLvlLbl val="0"/>
      </c:catAx>
      <c:valAx>
        <c:axId val="1252734655"/>
        <c:scaling>
          <c:orientation val="minMax"/>
          <c:min val="0"/>
        </c:scaling>
        <c:delete val="0"/>
        <c:axPos val="l"/>
        <c:numFmt formatCode="#,##0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52734239"/>
        <c:crossBetween val="between"/>
      </c:valAx>
      <c:catAx>
        <c:axId val="1252734239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252734655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 smtClean="0"/>
              <a:t>Shareholding</a:t>
            </a:r>
            <a:r>
              <a:rPr lang="en-US" baseline="0" dirty="0" smtClean="0"/>
              <a:t> Structure</a:t>
            </a:r>
            <a:endParaRPr lang="en-US" dirty="0"/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Ownership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3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920A-49D3-9931-CFB9FF47B591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Vanguard</c:v>
                </c:pt>
                <c:pt idx="1">
                  <c:v>Travis A. Knight Trust II</c:v>
                </c:pt>
                <c:pt idx="2">
                  <c:v>Philip Knight </c:v>
                </c:pt>
                <c:pt idx="3">
                  <c:v>Swoosh, LLC </c:v>
                </c:pt>
              </c:strCache>
            </c:strRef>
          </c:cat>
          <c:val>
            <c:numRef>
              <c:f>Sheet1!$B$2:$B$5</c:f>
              <c:numCache>
                <c:formatCode>0.00%</c:formatCode>
                <c:ptCount val="4"/>
                <c:pt idx="0">
                  <c:v>7.4999999999999997E-2</c:v>
                </c:pt>
                <c:pt idx="1">
                  <c:v>8.7999999999999995E-2</c:v>
                </c:pt>
                <c:pt idx="2">
                  <c:v>9.8000000000000004E-2</c:v>
                </c:pt>
                <c:pt idx="3">
                  <c:v>0.78800000000000003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20A-49D3-9931-CFB9FF47B59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1065771888"/>
        <c:axId val="1065766896"/>
      </c:barChart>
      <c:catAx>
        <c:axId val="106577188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65766896"/>
        <c:crosses val="autoZero"/>
        <c:auto val="1"/>
        <c:lblAlgn val="ctr"/>
        <c:lblOffset val="100"/>
        <c:noMultiLvlLbl val="0"/>
      </c:catAx>
      <c:valAx>
        <c:axId val="1065766896"/>
        <c:scaling>
          <c:orientation val="minMax"/>
        </c:scaling>
        <c:delete val="0"/>
        <c:axPos val="b"/>
        <c:numFmt formatCode="0%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6577188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F4CC81-E4DB-4B81-A841-96A9494E6695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C8942E-BD89-4783-A1C0-34F62A9471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12479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391307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A6C2AB-10A2-4E6D-B38B-8B1D448FE6B1}" type="datetime1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NIKE.INC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3659F-A41F-428F-A6B9-6639D9FC0DA7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AutoShape 2" descr="Nike Logo and symbol, meaning, history, PNG, brand"/>
          <p:cNvSpPr>
            <a:spLocks noChangeAspect="1" noChangeArrowheads="1"/>
          </p:cNvSpPr>
          <p:nvPr userDrawn="1"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7" name="Picture 1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74133" y="226247"/>
            <a:ext cx="1280160" cy="717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259382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173479"/>
            <a:ext cx="10058400" cy="1450757"/>
          </a:xfrm>
        </p:spPr>
        <p:txBody>
          <a:bodyPr/>
          <a:lstStyle>
            <a:lvl1pPr marL="0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904F64-026B-4E13-9CD9-7F311A3E3CD0}" type="datetime1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NIKE.INC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3659F-A41F-428F-A6B9-6639D9FC0D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448750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ACAE4-8101-438A-B195-1096DD3F624B}" type="datetime1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NIKE.INC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3659F-A41F-428F-A6B9-6639D9FC0DA7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477654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1BD7B3-53C9-45CE-BF5C-2CED71C4C083}" type="datetime1">
              <a:rPr lang="en-US" smtClean="0"/>
              <a:t>10/18/2026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NIKE.INC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3659F-A41F-428F-A6B9-6639D9FC0D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95341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9C07DA-BCBF-41B0-A8BF-E057786F5D9B}" type="datetime1">
              <a:rPr lang="en-US" smtClean="0"/>
              <a:t>10/18/2026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NIKE.INC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3659F-A41F-428F-A6B9-6639D9FC0D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18568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6645" y="-882321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E6969F-31AB-4187-876E-F35E7B3EFDE4}" type="datetime1">
              <a:rPr lang="en-US" smtClean="0"/>
              <a:t>10/18/2026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NIKE.INC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3659F-A41F-428F-A6B9-6639D9FC0D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170919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034562-9C3A-49D6-927B-168C89B48BBC}" type="datetime1">
              <a:rPr lang="en-US" smtClean="0"/>
              <a:t>10/18/2026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NIKE.INC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3659F-A41F-428F-A6B9-6639D9FC0D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36441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FBBE8AE1-DDA3-408E-8737-C07B7998E734}" type="datetime1">
              <a:rPr lang="en-US" smtClean="0"/>
              <a:t>10/18/2026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NIKE.INC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8C3659F-A41F-428F-A6B9-6639D9FC0D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39321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F9585B-9D23-4340-BC40-9817968B657C}" type="datetime1">
              <a:rPr lang="en-US" smtClean="0"/>
              <a:t>10/18/2026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NIKE.INC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3659F-A41F-428F-A6B9-6639D9FC0D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88031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FBABAF-B0CA-4832-8236-57D5DBF7B878}" type="datetime1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NIKE.INC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3659F-A41F-428F-A6B9-6639D9FC0D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77601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088EC-5A40-4844-8427-96FC140FF83F}" type="datetime1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NIKE.INC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3659F-A41F-428F-A6B9-6639D9FC0D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72939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117260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90141578-CDD0-4762-BADD-F58CF4DFBC31}" type="datetime1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NIKE.INC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C8C3659F-A41F-428F-A6B9-6639D9FC0DA7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1841" y="65988"/>
            <a:ext cx="1280160" cy="717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77834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iming>
    <p:tnLst>
      <p:par>
        <p:cTn id="1" dur="indefinite" restart="never" nodeType="tmRoot"/>
      </p:par>
    </p:tnLst>
  </p:timing>
  <p:hf hd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6.xml"/><Relationship Id="rId4" Type="http://schemas.openxmlformats.org/officeDocument/2006/relationships/chart" Target="../charts/char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7342" y="504427"/>
            <a:ext cx="10058400" cy="919019"/>
          </a:xfrm>
        </p:spPr>
        <p:txBody>
          <a:bodyPr>
            <a:noAutofit/>
          </a:bodyPr>
          <a:lstStyle/>
          <a:p>
            <a:r>
              <a:rPr lang="en-US" sz="4000" b="1" dirty="0" smtClean="0">
                <a:latin typeface="+mn-lt"/>
              </a:rPr>
              <a:t>Company Profile: NIKE, INC</a:t>
            </a:r>
            <a:br>
              <a:rPr lang="en-US" sz="4000" b="1" dirty="0" smtClean="0">
                <a:latin typeface="+mn-lt"/>
              </a:rPr>
            </a:br>
            <a:r>
              <a:rPr lang="en-US" sz="2800" b="1" i="1" dirty="0" smtClean="0">
                <a:solidFill>
                  <a:schemeClr val="bg1">
                    <a:lumMod val="50000"/>
                  </a:schemeClr>
                </a:solidFill>
                <a:latin typeface="+mn-lt"/>
              </a:rPr>
              <a:t>NYSE: NKE</a:t>
            </a:r>
            <a:endParaRPr lang="en-US" sz="2800" b="1" i="1" dirty="0">
              <a:solidFill>
                <a:schemeClr val="bg1">
                  <a:lumMod val="50000"/>
                </a:schemeClr>
              </a:solidFill>
              <a:latin typeface="+mn-lt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24920" y="1604962"/>
            <a:ext cx="10893613" cy="1143000"/>
          </a:xfrm>
        </p:spPr>
        <p:txBody>
          <a:bodyPr/>
          <a:lstStyle/>
          <a:p>
            <a:r>
              <a:rPr lang="en-US" cap="none" dirty="0">
                <a:solidFill>
                  <a:schemeClr val="tx1"/>
                </a:solidFill>
                <a:latin typeface="+mn-lt"/>
              </a:rPr>
              <a:t>C</a:t>
            </a:r>
            <a:r>
              <a:rPr lang="en-US" cap="none" dirty="0" smtClean="0">
                <a:solidFill>
                  <a:schemeClr val="tx1"/>
                </a:solidFill>
                <a:latin typeface="+mn-lt"/>
              </a:rPr>
              <a:t>ompany Overview, Segments Information, Financial </a:t>
            </a:r>
            <a:r>
              <a:rPr lang="en-US" cap="none" dirty="0">
                <a:solidFill>
                  <a:schemeClr val="tx1"/>
                </a:solidFill>
                <a:latin typeface="+mn-lt"/>
              </a:rPr>
              <a:t>S</a:t>
            </a:r>
            <a:r>
              <a:rPr lang="en-US" cap="none" dirty="0" smtClean="0">
                <a:solidFill>
                  <a:schemeClr val="tx1"/>
                </a:solidFill>
                <a:latin typeface="+mn-lt"/>
              </a:rPr>
              <a:t>napshot, Shareholding Structure and M&amp;A</a:t>
            </a:r>
            <a:endParaRPr lang="en-US" cap="none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NIKE.INC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3659F-A41F-428F-A6B9-6639D9FC0DA7}" type="slidenum">
              <a:rPr lang="en-US" smtClean="0"/>
              <a:t>1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682499" y="3424287"/>
            <a:ext cx="10978456" cy="942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" name="Group 22"/>
          <p:cNvGrpSpPr/>
          <p:nvPr/>
        </p:nvGrpSpPr>
        <p:grpSpPr>
          <a:xfrm>
            <a:off x="1055145" y="3655287"/>
            <a:ext cx="2377440" cy="1097280"/>
            <a:chOff x="1241820" y="3683547"/>
            <a:chExt cx="2262472" cy="964606"/>
          </a:xfrm>
        </p:grpSpPr>
        <p:sp>
          <p:nvSpPr>
            <p:cNvPr id="14" name="TextBox 13"/>
            <p:cNvSpPr txBox="1"/>
            <p:nvPr/>
          </p:nvSpPr>
          <p:spPr>
            <a:xfrm>
              <a:off x="1401172" y="3694046"/>
              <a:ext cx="2103120" cy="954107"/>
            </a:xfrm>
            <a:prstGeom prst="rect">
              <a:avLst/>
            </a:prstGeom>
            <a:solidFill>
              <a:srgbClr val="F57523">
                <a:alpha val="20000"/>
              </a:srgbClr>
            </a:solidFill>
          </p:spPr>
          <p:txBody>
            <a:bodyPr wrap="square" rtlCol="0">
              <a:spAutoFit/>
            </a:bodyPr>
            <a:lstStyle/>
            <a:p>
              <a:r>
                <a:rPr lang="en-US" sz="1600" b="1" dirty="0" smtClean="0"/>
                <a:t>Revenue</a:t>
              </a:r>
            </a:p>
            <a:p>
              <a:r>
                <a:rPr lang="en-US" sz="1600" dirty="0" smtClean="0"/>
                <a:t>$46.4B</a:t>
              </a:r>
            </a:p>
            <a:p>
              <a:r>
                <a:rPr lang="en-US" sz="1600" i="1" dirty="0" smtClean="0">
                  <a:solidFill>
                    <a:srgbClr val="6B6B6B"/>
                  </a:solidFill>
                </a:rPr>
                <a:t>(FY2026)</a:t>
              </a:r>
              <a:r>
                <a:rPr lang="en-US" sz="1600" dirty="0" smtClean="0">
                  <a:solidFill>
                    <a:schemeClr val="bg1">
                      <a:lumMod val="50000"/>
                    </a:schemeClr>
                  </a:solidFill>
                </a:rPr>
                <a:t> </a:t>
              </a:r>
            </a:p>
            <a:p>
              <a:r>
                <a:rPr lang="en-US" sz="1600" dirty="0"/>
                <a:t>	</a:t>
              </a:r>
            </a:p>
          </p:txBody>
        </p:sp>
        <p:sp>
          <p:nvSpPr>
            <p:cNvPr id="19" name="Rectangle 18"/>
            <p:cNvSpPr/>
            <p:nvPr/>
          </p:nvSpPr>
          <p:spPr>
            <a:xfrm>
              <a:off x="1241820" y="3683547"/>
              <a:ext cx="160010" cy="964606"/>
            </a:xfrm>
            <a:prstGeom prst="rect">
              <a:avLst/>
            </a:prstGeom>
            <a:solidFill>
              <a:srgbClr val="F5752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</p:grpSp>
      <p:grpSp>
        <p:nvGrpSpPr>
          <p:cNvPr id="24" name="Group 23"/>
          <p:cNvGrpSpPr/>
          <p:nvPr/>
        </p:nvGrpSpPr>
        <p:grpSpPr>
          <a:xfrm>
            <a:off x="3816176" y="3678839"/>
            <a:ext cx="2355551" cy="1097280"/>
            <a:chOff x="3907616" y="3683547"/>
            <a:chExt cx="2355551" cy="1097280"/>
          </a:xfrm>
        </p:grpSpPr>
        <p:sp>
          <p:nvSpPr>
            <p:cNvPr id="16" name="TextBox 15"/>
            <p:cNvSpPr txBox="1"/>
            <p:nvPr/>
          </p:nvSpPr>
          <p:spPr>
            <a:xfrm>
              <a:off x="4068607" y="3683547"/>
              <a:ext cx="2194560" cy="1097280"/>
            </a:xfrm>
            <a:prstGeom prst="rect">
              <a:avLst/>
            </a:prstGeom>
            <a:solidFill>
              <a:srgbClr val="F57523">
                <a:alpha val="20000"/>
              </a:srgbClr>
            </a:solidFill>
          </p:spPr>
          <p:txBody>
            <a:bodyPr wrap="square" rtlCol="0">
              <a:spAutoFit/>
            </a:bodyPr>
            <a:lstStyle/>
            <a:p>
              <a:r>
                <a:rPr lang="en-US" sz="1600" b="1" dirty="0" smtClean="0"/>
                <a:t>Market Capitalization</a:t>
              </a:r>
            </a:p>
            <a:p>
              <a:r>
                <a:rPr lang="en-US" sz="1600" dirty="0" smtClean="0"/>
                <a:t>$55.15B</a:t>
              </a:r>
              <a:endParaRPr lang="en-US" sz="1600" i="1" dirty="0" smtClean="0">
                <a:solidFill>
                  <a:schemeClr val="bg1">
                    <a:lumMod val="50000"/>
                  </a:schemeClr>
                </a:solidFill>
              </a:endParaRPr>
            </a:p>
            <a:p>
              <a:r>
                <a:rPr lang="en-US" sz="1600" i="1" dirty="0" smtClean="0">
                  <a:solidFill>
                    <a:srgbClr val="6B6B6B"/>
                  </a:solidFill>
                </a:rPr>
                <a:t>Market value: $37.13</a:t>
              </a:r>
            </a:p>
            <a:p>
              <a:r>
                <a:rPr lang="en-US" sz="1600" dirty="0"/>
                <a:t>	</a:t>
              </a:r>
            </a:p>
          </p:txBody>
        </p:sp>
        <p:sp>
          <p:nvSpPr>
            <p:cNvPr id="20" name="Rectangle 19"/>
            <p:cNvSpPr/>
            <p:nvPr/>
          </p:nvSpPr>
          <p:spPr>
            <a:xfrm>
              <a:off x="3907616" y="3683547"/>
              <a:ext cx="160010" cy="1097280"/>
            </a:xfrm>
            <a:prstGeom prst="rect">
              <a:avLst/>
            </a:prstGeom>
            <a:solidFill>
              <a:srgbClr val="F5752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</p:grpSp>
      <p:grpSp>
        <p:nvGrpSpPr>
          <p:cNvPr id="25" name="Group 24"/>
          <p:cNvGrpSpPr/>
          <p:nvPr/>
        </p:nvGrpSpPr>
        <p:grpSpPr>
          <a:xfrm>
            <a:off x="6509410" y="3666549"/>
            <a:ext cx="2261814" cy="1109570"/>
            <a:chOff x="6509410" y="3666549"/>
            <a:chExt cx="2261814" cy="965378"/>
          </a:xfrm>
        </p:grpSpPr>
        <p:sp>
          <p:nvSpPr>
            <p:cNvPr id="17" name="TextBox 16"/>
            <p:cNvSpPr txBox="1"/>
            <p:nvPr/>
          </p:nvSpPr>
          <p:spPr>
            <a:xfrm>
              <a:off x="6668104" y="3666549"/>
              <a:ext cx="2103120" cy="954107"/>
            </a:xfrm>
            <a:prstGeom prst="rect">
              <a:avLst/>
            </a:prstGeom>
            <a:solidFill>
              <a:srgbClr val="F57523">
                <a:alpha val="20000"/>
              </a:srgbClr>
            </a:solidFill>
          </p:spPr>
          <p:txBody>
            <a:bodyPr wrap="square" rtlCol="0">
              <a:spAutoFit/>
            </a:bodyPr>
            <a:lstStyle/>
            <a:p>
              <a:r>
                <a:rPr lang="en-US" sz="1600" b="1" dirty="0" smtClean="0"/>
                <a:t>EPS (Diluted</a:t>
              </a:r>
              <a:r>
                <a:rPr lang="en-US" sz="1600" dirty="0" smtClean="0"/>
                <a:t>)</a:t>
              </a:r>
            </a:p>
            <a:p>
              <a:r>
                <a:rPr lang="en-US" sz="1600" dirty="0" smtClean="0"/>
                <a:t>$2.10 </a:t>
              </a:r>
            </a:p>
            <a:p>
              <a:r>
                <a:rPr lang="en-US" sz="1600" i="1" dirty="0" smtClean="0">
                  <a:solidFill>
                    <a:srgbClr val="6B6B6B"/>
                  </a:solidFill>
                </a:rPr>
                <a:t>(FY2026)</a:t>
              </a:r>
            </a:p>
            <a:p>
              <a:r>
                <a:rPr lang="en-US" sz="1600" dirty="0"/>
                <a:t>	</a:t>
              </a:r>
            </a:p>
          </p:txBody>
        </p:sp>
        <p:sp>
          <p:nvSpPr>
            <p:cNvPr id="21" name="Rectangle 20"/>
            <p:cNvSpPr/>
            <p:nvPr/>
          </p:nvSpPr>
          <p:spPr>
            <a:xfrm>
              <a:off x="6509410" y="3667321"/>
              <a:ext cx="160010" cy="964606"/>
            </a:xfrm>
            <a:prstGeom prst="rect">
              <a:avLst/>
            </a:prstGeom>
            <a:solidFill>
              <a:srgbClr val="F5752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</p:grpSp>
      <p:grpSp>
        <p:nvGrpSpPr>
          <p:cNvPr id="27" name="Group 26"/>
          <p:cNvGrpSpPr/>
          <p:nvPr/>
        </p:nvGrpSpPr>
        <p:grpSpPr>
          <a:xfrm>
            <a:off x="9161761" y="3667368"/>
            <a:ext cx="2268587" cy="1109571"/>
            <a:chOff x="6509410" y="3666548"/>
            <a:chExt cx="2268587" cy="965379"/>
          </a:xfrm>
        </p:grpSpPr>
        <p:sp>
          <p:nvSpPr>
            <p:cNvPr id="28" name="TextBox 27"/>
            <p:cNvSpPr txBox="1"/>
            <p:nvPr/>
          </p:nvSpPr>
          <p:spPr>
            <a:xfrm>
              <a:off x="6674877" y="3666548"/>
              <a:ext cx="2103120" cy="954685"/>
            </a:xfrm>
            <a:prstGeom prst="rect">
              <a:avLst/>
            </a:prstGeom>
            <a:solidFill>
              <a:srgbClr val="F57523">
                <a:alpha val="20000"/>
              </a:srgbClr>
            </a:solidFill>
          </p:spPr>
          <p:txBody>
            <a:bodyPr wrap="square" rtlCol="0">
              <a:spAutoFit/>
            </a:bodyPr>
            <a:lstStyle/>
            <a:p>
              <a:r>
                <a:rPr lang="en-US" sz="1600" b="1" dirty="0" smtClean="0"/>
                <a:t>Dividend Yield</a:t>
              </a:r>
              <a:endParaRPr lang="en-US" sz="1600" dirty="0" smtClean="0"/>
            </a:p>
            <a:p>
              <a:r>
                <a:rPr lang="en-US" sz="1600" dirty="0" smtClean="0"/>
                <a:t>4.6%</a:t>
              </a:r>
            </a:p>
            <a:p>
              <a:r>
                <a:rPr lang="en-US" sz="1600" i="1" dirty="0" smtClean="0">
                  <a:solidFill>
                    <a:srgbClr val="6B6B6B"/>
                  </a:solidFill>
                </a:rPr>
                <a:t>(FY2026)</a:t>
              </a:r>
            </a:p>
            <a:p>
              <a:r>
                <a:rPr lang="en-US" sz="1600" dirty="0"/>
                <a:t>	</a:t>
              </a:r>
              <a:endParaRPr lang="en-US" sz="1600" dirty="0" smtClean="0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6509410" y="3667321"/>
              <a:ext cx="160010" cy="964606"/>
            </a:xfrm>
            <a:prstGeom prst="rect">
              <a:avLst/>
            </a:prstGeom>
            <a:solidFill>
              <a:srgbClr val="F5752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</p:grpSp>
      <p:sp>
        <p:nvSpPr>
          <p:cNvPr id="30" name="Text 13"/>
          <p:cNvSpPr/>
          <p:nvPr/>
        </p:nvSpPr>
        <p:spPr>
          <a:xfrm>
            <a:off x="124644" y="601099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i="1" dirty="0">
                <a:solidFill>
                  <a:schemeClr val="bg2">
                    <a:lumMod val="75000"/>
                  </a:schemeClr>
                </a:solidFill>
                <a:ea typeface="Arial" pitchFamily="34" charset="-122"/>
                <a:cs typeface="Arial" pitchFamily="34" charset="-120"/>
              </a:rPr>
              <a:t>October </a:t>
            </a:r>
            <a:r>
              <a:rPr lang="en-US" sz="1400" i="1" dirty="0" smtClean="0">
                <a:solidFill>
                  <a:schemeClr val="bg2">
                    <a:lumMod val="75000"/>
                  </a:schemeClr>
                </a:solidFill>
                <a:ea typeface="Arial" pitchFamily="34" charset="-122"/>
                <a:cs typeface="Arial" pitchFamily="34" charset="-120"/>
              </a:rPr>
              <a:t>2026, $ </a:t>
            </a:r>
            <a:r>
              <a:rPr lang="en-US" sz="1400" i="1" dirty="0">
                <a:solidFill>
                  <a:schemeClr val="bg2">
                    <a:lumMod val="75000"/>
                  </a:schemeClr>
                </a:solidFill>
                <a:ea typeface="Arial" pitchFamily="34" charset="-122"/>
                <a:cs typeface="Arial" pitchFamily="34" charset="-120"/>
              </a:rPr>
              <a:t>in millions unless </a:t>
            </a:r>
            <a:r>
              <a:rPr lang="en-US" sz="1400" i="1" dirty="0" smtClean="0">
                <a:solidFill>
                  <a:schemeClr val="bg2">
                    <a:lumMod val="75000"/>
                  </a:schemeClr>
                </a:solidFill>
                <a:ea typeface="Arial" pitchFamily="34" charset="-122"/>
                <a:cs typeface="Arial" pitchFamily="34" charset="-120"/>
              </a:rPr>
              <a:t>stated, fiscal </a:t>
            </a:r>
            <a:r>
              <a:rPr lang="en-US" sz="1400" i="1" dirty="0">
                <a:solidFill>
                  <a:schemeClr val="bg2">
                    <a:lumMod val="75000"/>
                  </a:schemeClr>
                </a:solidFill>
                <a:ea typeface="Arial" pitchFamily="34" charset="-122"/>
                <a:cs typeface="Arial" pitchFamily="34" charset="-120"/>
              </a:rPr>
              <a:t>year ends May 31</a:t>
            </a:r>
            <a:endParaRPr lang="en-US" sz="1400" i="1" dirty="0">
              <a:solidFill>
                <a:schemeClr val="bg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41423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514675"/>
          </a:xfrm>
        </p:spPr>
        <p:txBody>
          <a:bodyPr>
            <a:normAutofit/>
          </a:bodyPr>
          <a:lstStyle/>
          <a:p>
            <a:r>
              <a:rPr lang="en-US" sz="2600" b="1" dirty="0" smtClean="0">
                <a:solidFill>
                  <a:srgbClr val="BD582C"/>
                </a:solidFill>
                <a:latin typeface="+mn-lt"/>
              </a:rPr>
              <a:t>COMPANY OVERVIEW</a:t>
            </a:r>
            <a:endParaRPr lang="en-US" sz="2600" b="1" dirty="0">
              <a:solidFill>
                <a:srgbClr val="BD582C"/>
              </a:solidFill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119871"/>
            <a:ext cx="10058400" cy="859759"/>
          </a:xfrm>
        </p:spPr>
        <p:txBody>
          <a:bodyPr>
            <a:normAutofit/>
          </a:bodyPr>
          <a:lstStyle/>
          <a:p>
            <a:r>
              <a:rPr lang="en-US" sz="1800" dirty="0"/>
              <a:t>Nike, Inc. is an American multinational corporation that designs, develops, manufactures, and markets athletic footwear, apparel, equipment, accessories, and services </a:t>
            </a:r>
            <a:r>
              <a:rPr lang="en-US" sz="1800" dirty="0" smtClean="0"/>
              <a:t>worldwide.</a:t>
            </a:r>
            <a:endParaRPr lang="en-US" sz="18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NIKE.INC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3659F-A41F-428F-A6B9-6639D9FC0DA7}" type="slidenum">
              <a:rPr lang="en-US" smtClean="0"/>
              <a:t>2</a:t>
            </a:fld>
            <a:endParaRPr lang="en-US"/>
          </a:p>
        </p:txBody>
      </p:sp>
      <p:grpSp>
        <p:nvGrpSpPr>
          <p:cNvPr id="7" name="Group 6"/>
          <p:cNvGrpSpPr/>
          <p:nvPr/>
        </p:nvGrpSpPr>
        <p:grpSpPr>
          <a:xfrm>
            <a:off x="1054307" y="2406861"/>
            <a:ext cx="2377440" cy="1100079"/>
            <a:chOff x="1241820" y="3683547"/>
            <a:chExt cx="2262472" cy="967067"/>
          </a:xfrm>
        </p:grpSpPr>
        <p:sp>
          <p:nvSpPr>
            <p:cNvPr id="8" name="TextBox 7"/>
            <p:cNvSpPr txBox="1"/>
            <p:nvPr/>
          </p:nvSpPr>
          <p:spPr>
            <a:xfrm>
              <a:off x="1401172" y="3694046"/>
              <a:ext cx="2103120" cy="956568"/>
            </a:xfrm>
            <a:prstGeom prst="rect">
              <a:avLst/>
            </a:prstGeom>
            <a:solidFill>
              <a:srgbClr val="F57523">
                <a:alpha val="20000"/>
              </a:srgbClr>
            </a:solidFill>
          </p:spPr>
          <p:txBody>
            <a:bodyPr wrap="square" rtlCol="0">
              <a:spAutoFit/>
            </a:bodyPr>
            <a:lstStyle/>
            <a:p>
              <a:r>
                <a:rPr lang="en-US" sz="1600" b="1" dirty="0" smtClean="0"/>
                <a:t>Founded</a:t>
              </a:r>
            </a:p>
            <a:p>
              <a:r>
                <a:rPr lang="en-US" sz="1400" dirty="0" smtClean="0"/>
                <a:t>1964, Blue Ribbon Sports</a:t>
              </a:r>
            </a:p>
            <a:p>
              <a:r>
                <a:rPr lang="en-US" sz="1600" i="1" dirty="0" smtClean="0">
                  <a:solidFill>
                    <a:srgbClr val="6B6B6B"/>
                  </a:solidFill>
                </a:rPr>
                <a:t>HQ: Beaverton Oregon</a:t>
              </a:r>
              <a:r>
                <a:rPr lang="en-US" sz="1600" dirty="0" smtClean="0">
                  <a:solidFill>
                    <a:schemeClr val="bg1">
                      <a:lumMod val="50000"/>
                    </a:schemeClr>
                  </a:solidFill>
                </a:rPr>
                <a:t> </a:t>
              </a:r>
            </a:p>
            <a:p>
              <a:r>
                <a:rPr lang="en-US" sz="1600" dirty="0"/>
                <a:t>	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1241820" y="3683547"/>
              <a:ext cx="160010" cy="964606"/>
            </a:xfrm>
            <a:prstGeom prst="rect">
              <a:avLst/>
            </a:prstGeom>
            <a:solidFill>
              <a:srgbClr val="F5752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3874493" y="2418806"/>
            <a:ext cx="2544889" cy="1100076"/>
            <a:chOff x="1241820" y="3683547"/>
            <a:chExt cx="2421825" cy="967064"/>
          </a:xfrm>
        </p:grpSpPr>
        <p:sp>
          <p:nvSpPr>
            <p:cNvPr id="11" name="TextBox 10"/>
            <p:cNvSpPr txBox="1"/>
            <p:nvPr/>
          </p:nvSpPr>
          <p:spPr>
            <a:xfrm>
              <a:off x="1401172" y="3694043"/>
              <a:ext cx="2262473" cy="956568"/>
            </a:xfrm>
            <a:prstGeom prst="rect">
              <a:avLst/>
            </a:prstGeom>
            <a:solidFill>
              <a:srgbClr val="F57523">
                <a:alpha val="20000"/>
              </a:srgbClr>
            </a:solidFill>
          </p:spPr>
          <p:txBody>
            <a:bodyPr wrap="square" rtlCol="0">
              <a:spAutoFit/>
            </a:bodyPr>
            <a:lstStyle/>
            <a:p>
              <a:r>
                <a:rPr lang="en-US" sz="1600" b="1" dirty="0" smtClean="0"/>
                <a:t>President &amp; CEO</a:t>
              </a:r>
            </a:p>
            <a:p>
              <a:r>
                <a:rPr lang="en-US" sz="1600" dirty="0" smtClean="0"/>
                <a:t>Elliott </a:t>
              </a:r>
              <a:r>
                <a:rPr lang="en-US" sz="1600" dirty="0" smtClean="0"/>
                <a:t>Hill</a:t>
              </a:r>
            </a:p>
            <a:p>
              <a:r>
                <a:rPr lang="en-US" sz="1600" i="1" dirty="0" smtClean="0">
                  <a:solidFill>
                    <a:schemeClr val="bg1">
                      <a:lumMod val="50000"/>
                    </a:schemeClr>
                  </a:solidFill>
                </a:rPr>
                <a:t>Oct 2024</a:t>
              </a:r>
              <a:r>
                <a:rPr lang="en-US" sz="1600" dirty="0"/>
                <a:t>	</a:t>
              </a: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241820" y="3683547"/>
              <a:ext cx="160010" cy="964606"/>
            </a:xfrm>
            <a:prstGeom prst="rect">
              <a:avLst/>
            </a:prstGeom>
            <a:solidFill>
              <a:srgbClr val="F5752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</p:grpSp>
      <p:grpSp>
        <p:nvGrpSpPr>
          <p:cNvPr id="13" name="Group 12"/>
          <p:cNvGrpSpPr/>
          <p:nvPr/>
        </p:nvGrpSpPr>
        <p:grpSpPr>
          <a:xfrm>
            <a:off x="1054307" y="4006347"/>
            <a:ext cx="2377440" cy="1097280"/>
            <a:chOff x="1241820" y="3683547"/>
            <a:chExt cx="2262472" cy="964606"/>
          </a:xfrm>
        </p:grpSpPr>
        <p:sp>
          <p:nvSpPr>
            <p:cNvPr id="14" name="TextBox 13"/>
            <p:cNvSpPr txBox="1"/>
            <p:nvPr/>
          </p:nvSpPr>
          <p:spPr>
            <a:xfrm>
              <a:off x="1401172" y="3694046"/>
              <a:ext cx="2103120" cy="954107"/>
            </a:xfrm>
            <a:prstGeom prst="rect">
              <a:avLst/>
            </a:prstGeom>
            <a:solidFill>
              <a:srgbClr val="F57523">
                <a:alpha val="20000"/>
              </a:srgbClr>
            </a:solidFill>
          </p:spPr>
          <p:txBody>
            <a:bodyPr wrap="square" rtlCol="0">
              <a:spAutoFit/>
            </a:bodyPr>
            <a:lstStyle/>
            <a:p>
              <a:r>
                <a:rPr lang="en-US" sz="1600" b="1" dirty="0" smtClean="0"/>
                <a:t>Brands</a:t>
              </a:r>
            </a:p>
            <a:p>
              <a:r>
                <a:rPr lang="en-US" sz="1600" dirty="0" smtClean="0"/>
                <a:t>Nike, Jordan, Converse</a:t>
              </a:r>
            </a:p>
            <a:p>
              <a:endParaRPr lang="en-US" sz="1600" dirty="0" smtClean="0">
                <a:solidFill>
                  <a:schemeClr val="bg1">
                    <a:lumMod val="50000"/>
                  </a:schemeClr>
                </a:solidFill>
              </a:endParaRPr>
            </a:p>
            <a:p>
              <a:r>
                <a:rPr lang="en-US" sz="1600" dirty="0"/>
                <a:t>	</a:t>
              </a: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241820" y="3683547"/>
              <a:ext cx="160010" cy="964606"/>
            </a:xfrm>
            <a:prstGeom prst="rect">
              <a:avLst/>
            </a:prstGeom>
            <a:solidFill>
              <a:srgbClr val="F5752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3922855" y="4006347"/>
            <a:ext cx="2544890" cy="1109222"/>
            <a:chOff x="1241820" y="3683547"/>
            <a:chExt cx="2421824" cy="975104"/>
          </a:xfrm>
        </p:grpSpPr>
        <p:sp>
          <p:nvSpPr>
            <p:cNvPr id="17" name="TextBox 16"/>
            <p:cNvSpPr txBox="1"/>
            <p:nvPr/>
          </p:nvSpPr>
          <p:spPr>
            <a:xfrm>
              <a:off x="1401172" y="3694045"/>
              <a:ext cx="2262472" cy="964606"/>
            </a:xfrm>
            <a:prstGeom prst="rect">
              <a:avLst/>
            </a:prstGeom>
            <a:solidFill>
              <a:srgbClr val="F57523">
                <a:alpha val="20000"/>
              </a:srgbClr>
            </a:solidFill>
          </p:spPr>
          <p:txBody>
            <a:bodyPr wrap="square" rtlCol="0">
              <a:spAutoFit/>
            </a:bodyPr>
            <a:lstStyle/>
            <a:p>
              <a:r>
                <a:rPr lang="en-US" sz="1600" b="1" dirty="0" smtClean="0"/>
                <a:t>Global Reach</a:t>
              </a:r>
            </a:p>
            <a:p>
              <a:r>
                <a:rPr lang="en-US" sz="1600" dirty="0" smtClean="0"/>
                <a:t>~190 Countries</a:t>
              </a:r>
              <a:endParaRPr lang="en-US" sz="1600" dirty="0"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1241820" y="3683547"/>
              <a:ext cx="160010" cy="964606"/>
            </a:xfrm>
            <a:prstGeom prst="rect">
              <a:avLst/>
            </a:prstGeom>
            <a:solidFill>
              <a:srgbClr val="F5752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</p:grpSp>
      <p:graphicFrame>
        <p:nvGraphicFramePr>
          <p:cNvPr id="19" name="Table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5726061"/>
              </p:ext>
            </p:extLst>
          </p:nvPr>
        </p:nvGraphicFramePr>
        <p:xfrm>
          <a:off x="7104038" y="2036021"/>
          <a:ext cx="3657602" cy="3717987"/>
        </p:xfrm>
        <a:graphic>
          <a:graphicData uri="http://schemas.openxmlformats.org/drawingml/2006/table">
            <a:tbl>
              <a:tblPr firstRow="1" bandRow="1">
                <a:tableStyleId>{6E25E649-3F16-4E02-A733-19D2CDBF48F0}</a:tableStyleId>
              </a:tblPr>
              <a:tblGrid>
                <a:gridCol w="1828801">
                  <a:extLst>
                    <a:ext uri="{9D8B030D-6E8A-4147-A177-3AD203B41FA5}">
                      <a16:colId xmlns:a16="http://schemas.microsoft.com/office/drawing/2014/main" val="2885495823"/>
                    </a:ext>
                  </a:extLst>
                </a:gridCol>
                <a:gridCol w="1828801">
                  <a:extLst>
                    <a:ext uri="{9D8B030D-6E8A-4147-A177-3AD203B41FA5}">
                      <a16:colId xmlns:a16="http://schemas.microsoft.com/office/drawing/2014/main" val="2906228995"/>
                    </a:ext>
                  </a:extLst>
                </a:gridCol>
              </a:tblGrid>
              <a:tr h="439701"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Item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mpd="sng">
                      <a:noFill/>
                    </a:lnT>
                    <a:lnB w="254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75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FY2026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5400" cmpd="sng">
                      <a:noFill/>
                    </a:lnT>
                    <a:lnB w="254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752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874952"/>
                  </a:ext>
                </a:extLst>
              </a:tr>
              <a:tr h="439701">
                <a:tc>
                  <a:txBody>
                    <a:bodyPr/>
                    <a:lstStyle/>
                    <a:p>
                      <a:r>
                        <a:rPr lang="en-US" dirty="0" smtClean="0"/>
                        <a:t>Revenue</a:t>
                      </a:r>
                      <a:endParaRPr lang="en-US" dirty="0"/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mpd="sng"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$46,398mm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5400" cmpd="sng">
                      <a:noFill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603231138"/>
                  </a:ext>
                </a:extLst>
              </a:tr>
              <a:tr h="439701">
                <a:tc>
                  <a:txBody>
                    <a:bodyPr/>
                    <a:lstStyle/>
                    <a:p>
                      <a:r>
                        <a:rPr lang="en-US" dirty="0" smtClean="0"/>
                        <a:t>Gross Margin</a:t>
                      </a:r>
                      <a:endParaRPr lang="en-US" dirty="0"/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42.91%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431188221"/>
                  </a:ext>
                </a:extLst>
              </a:tr>
              <a:tr h="439701">
                <a:tc>
                  <a:txBody>
                    <a:bodyPr/>
                    <a:lstStyle/>
                    <a:p>
                      <a:r>
                        <a:rPr lang="en-US" dirty="0" smtClean="0"/>
                        <a:t>Operating Income</a:t>
                      </a:r>
                      <a:endParaRPr lang="en-US" dirty="0"/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$3797mm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239884519"/>
                  </a:ext>
                </a:extLst>
              </a:tr>
              <a:tr h="439701">
                <a:tc>
                  <a:txBody>
                    <a:bodyPr/>
                    <a:lstStyle/>
                    <a:p>
                      <a:r>
                        <a:rPr lang="en-US" dirty="0" smtClean="0"/>
                        <a:t>Net Income</a:t>
                      </a:r>
                      <a:endParaRPr lang="en-US" dirty="0"/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$3108mm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796218761"/>
                  </a:ext>
                </a:extLst>
              </a:tr>
              <a:tr h="439701">
                <a:tc>
                  <a:txBody>
                    <a:bodyPr/>
                    <a:lstStyle/>
                    <a:p>
                      <a:r>
                        <a:rPr lang="en-US" dirty="0" smtClean="0"/>
                        <a:t>Diluted EPS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$2.10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846164890"/>
                  </a:ext>
                </a:extLst>
              </a:tr>
              <a:tr h="439701">
                <a:tc>
                  <a:txBody>
                    <a:bodyPr/>
                    <a:lstStyle/>
                    <a:p>
                      <a:r>
                        <a:rPr lang="en-US" dirty="0" smtClean="0"/>
                        <a:t>Free Cash Flow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$2184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975089412"/>
                  </a:ext>
                </a:extLst>
              </a:tr>
              <a:tr h="439701">
                <a:tc>
                  <a:txBody>
                    <a:bodyPr/>
                    <a:lstStyle/>
                    <a:p>
                      <a:r>
                        <a:rPr lang="en-US" dirty="0" smtClean="0"/>
                        <a:t>Market Cap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$55.15B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972367187"/>
                  </a:ext>
                </a:extLst>
              </a:tr>
            </a:tbl>
          </a:graphicData>
        </a:graphic>
      </p:graphicFrame>
      <p:cxnSp>
        <p:nvCxnSpPr>
          <p:cNvPr id="23" name="Straight Connector 22"/>
          <p:cNvCxnSpPr/>
          <p:nvPr/>
        </p:nvCxnSpPr>
        <p:spPr>
          <a:xfrm flipV="1">
            <a:off x="895547" y="1772239"/>
            <a:ext cx="10058400" cy="3770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0" y="6053232"/>
            <a:ext cx="42793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 smtClean="0">
                <a:solidFill>
                  <a:schemeClr val="bg2">
                    <a:lumMod val="75000"/>
                  </a:schemeClr>
                </a:solidFill>
              </a:rPr>
              <a:t>Source: Nike annual report FY26 </a:t>
            </a:r>
            <a:r>
              <a:rPr lang="en-US" sz="1200" i="1" dirty="0" smtClean="0">
                <a:solidFill>
                  <a:schemeClr val="bg2">
                    <a:lumMod val="75000"/>
                  </a:schemeClr>
                </a:solidFill>
              </a:rPr>
              <a:t>Form 10-K</a:t>
            </a:r>
            <a:r>
              <a:rPr lang="en-US" sz="1200" i="1" dirty="0" smtClean="0">
                <a:solidFill>
                  <a:schemeClr val="bg2">
                    <a:lumMod val="75000"/>
                  </a:schemeClr>
                </a:solidFill>
              </a:rPr>
              <a:t>, Google Finance</a:t>
            </a:r>
            <a:endParaRPr lang="en-US" sz="1200" i="1" dirty="0">
              <a:solidFill>
                <a:schemeClr val="bg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31564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35229" y="1016175"/>
            <a:ext cx="10058400" cy="548674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15181D"/>
                </a:solidFill>
                <a:ea typeface="Arial" pitchFamily="34" charset="-122"/>
                <a:cs typeface="Arial" pitchFamily="34" charset="-120"/>
              </a:rPr>
              <a:t>North America earns 44% of revenue at the highest margin</a:t>
            </a:r>
            <a:endParaRPr lang="en-US" sz="32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NIKE.INC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3659F-A41F-428F-A6B9-6639D9FC0DA7}" type="slidenum">
              <a:rPr lang="en-US" smtClean="0"/>
              <a:t>3</a:t>
            </a:fld>
            <a:endParaRPr lang="en-US"/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1097280" y="286603"/>
            <a:ext cx="10058400" cy="51467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600" b="1" dirty="0" smtClean="0">
                <a:solidFill>
                  <a:srgbClr val="BD582C"/>
                </a:solidFill>
                <a:latin typeface="+mn-lt"/>
              </a:rPr>
              <a:t>SEGMENT </a:t>
            </a:r>
            <a:r>
              <a:rPr lang="en-US" sz="2600" b="1" dirty="0" smtClean="0">
                <a:solidFill>
                  <a:srgbClr val="BD582C"/>
                </a:solidFill>
                <a:latin typeface="+mn-lt"/>
              </a:rPr>
              <a:t>INFORMATION </a:t>
            </a:r>
            <a:r>
              <a:rPr lang="en-US" sz="2400" b="1" i="1" dirty="0" smtClean="0">
                <a:solidFill>
                  <a:srgbClr val="BD582C"/>
                </a:solidFill>
                <a:latin typeface="+mn-lt"/>
              </a:rPr>
              <a:t>(FY2026)</a:t>
            </a:r>
            <a:endParaRPr lang="en-US" sz="2400" b="1" i="1" dirty="0">
              <a:solidFill>
                <a:srgbClr val="BD582C"/>
              </a:solidFill>
              <a:latin typeface="+mn-lt"/>
            </a:endParaRPr>
          </a:p>
        </p:txBody>
      </p:sp>
      <p:graphicFrame>
        <p:nvGraphicFramePr>
          <p:cNvPr id="9" name="Chart 8"/>
          <p:cNvGraphicFramePr/>
          <p:nvPr>
            <p:extLst>
              <p:ext uri="{D42A27DB-BD31-4B8C-83A1-F6EECF244321}">
                <p14:modId xmlns:p14="http://schemas.microsoft.com/office/powerpoint/2010/main" val="2167709186"/>
              </p:ext>
            </p:extLst>
          </p:nvPr>
        </p:nvGraphicFramePr>
        <p:xfrm>
          <a:off x="1003255" y="1926131"/>
          <a:ext cx="603504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2" name="Chart 11"/>
          <p:cNvGraphicFramePr/>
          <p:nvPr>
            <p:extLst>
              <p:ext uri="{D42A27DB-BD31-4B8C-83A1-F6EECF244321}">
                <p14:modId xmlns:p14="http://schemas.microsoft.com/office/powerpoint/2010/main" val="3966322196"/>
              </p:ext>
            </p:extLst>
          </p:nvPr>
        </p:nvGraphicFramePr>
        <p:xfrm>
          <a:off x="7038295" y="1779746"/>
          <a:ext cx="466344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cxnSp>
        <p:nvCxnSpPr>
          <p:cNvPr id="14" name="Straight Connector 13"/>
          <p:cNvCxnSpPr/>
          <p:nvPr/>
        </p:nvCxnSpPr>
        <p:spPr>
          <a:xfrm>
            <a:off x="7113711" y="2168165"/>
            <a:ext cx="0" cy="2286000"/>
          </a:xfrm>
          <a:prstGeom prst="line">
            <a:avLst/>
          </a:prstGeom>
          <a:ln w="9525" cap="flat" cmpd="sng" algn="ctr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pSp>
        <p:nvGrpSpPr>
          <p:cNvPr id="19" name="Group 18"/>
          <p:cNvGrpSpPr/>
          <p:nvPr/>
        </p:nvGrpSpPr>
        <p:grpSpPr>
          <a:xfrm>
            <a:off x="1404596" y="5086973"/>
            <a:ext cx="4421171" cy="725865"/>
            <a:chOff x="1300899" y="5086973"/>
            <a:chExt cx="4421171" cy="725865"/>
          </a:xfrm>
        </p:grpSpPr>
        <p:sp>
          <p:nvSpPr>
            <p:cNvPr id="15" name="Rounded Rectangle 14"/>
            <p:cNvSpPr/>
            <p:nvPr/>
          </p:nvSpPr>
          <p:spPr>
            <a:xfrm>
              <a:off x="1376314" y="5086973"/>
              <a:ext cx="4345756" cy="725864"/>
            </a:xfrm>
            <a:prstGeom prst="roundRect">
              <a:avLst/>
            </a:prstGeom>
            <a:solidFill>
              <a:schemeClr val="bg1">
                <a:lumMod val="50000"/>
                <a:alpha val="24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ounded Rectangle 16"/>
            <p:cNvSpPr/>
            <p:nvPr/>
          </p:nvSpPr>
          <p:spPr>
            <a:xfrm>
              <a:off x="1300899" y="5086974"/>
              <a:ext cx="226243" cy="725864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0" name="Group 19"/>
          <p:cNvGrpSpPr/>
          <p:nvPr/>
        </p:nvGrpSpPr>
        <p:grpSpPr>
          <a:xfrm>
            <a:off x="6722885" y="5086973"/>
            <a:ext cx="4355183" cy="725864"/>
            <a:chOff x="6619188" y="5086973"/>
            <a:chExt cx="4355183" cy="725864"/>
          </a:xfrm>
        </p:grpSpPr>
        <p:sp>
          <p:nvSpPr>
            <p:cNvPr id="16" name="Rounded Rectangle 15"/>
            <p:cNvSpPr/>
            <p:nvPr/>
          </p:nvSpPr>
          <p:spPr>
            <a:xfrm>
              <a:off x="6628615" y="5086973"/>
              <a:ext cx="4345756" cy="725864"/>
            </a:xfrm>
            <a:prstGeom prst="roundRect">
              <a:avLst/>
            </a:prstGeom>
            <a:solidFill>
              <a:schemeClr val="bg1">
                <a:lumMod val="50000"/>
                <a:alpha val="24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ounded Rectangle 17"/>
            <p:cNvSpPr/>
            <p:nvPr/>
          </p:nvSpPr>
          <p:spPr>
            <a:xfrm>
              <a:off x="6619188" y="5086973"/>
              <a:ext cx="226243" cy="725864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2" name="Rectangle 21"/>
          <p:cNvSpPr/>
          <p:nvPr/>
        </p:nvSpPr>
        <p:spPr>
          <a:xfrm>
            <a:off x="1593131" y="5118525"/>
            <a:ext cx="373929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b="1" dirty="0" smtClean="0"/>
              <a:t>Greater China remains the key geographic pressure point:</a:t>
            </a:r>
            <a:r>
              <a:rPr lang="en-US" sz="1200" dirty="0" smtClean="0"/>
              <a:t> FY2026 revenue fell </a:t>
            </a:r>
            <a:r>
              <a:rPr lang="en-US" sz="1200" b="1" dirty="0" smtClean="0"/>
              <a:t>13% currency-neutral</a:t>
            </a:r>
            <a:r>
              <a:rPr lang="en-US" sz="1200" dirty="0" smtClean="0"/>
              <a:t>, with further weakness in Q1 FY2027.</a:t>
            </a:r>
            <a:endParaRPr lang="en-US" sz="1200" dirty="0"/>
          </a:p>
        </p:txBody>
      </p:sp>
      <p:sp>
        <p:nvSpPr>
          <p:cNvPr id="23" name="Rectangle 22"/>
          <p:cNvSpPr/>
          <p:nvPr/>
        </p:nvSpPr>
        <p:spPr>
          <a:xfrm>
            <a:off x="6911420" y="5100718"/>
            <a:ext cx="408023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b="1" dirty="0"/>
              <a:t>Mix is shifting back toward wholesale:</a:t>
            </a:r>
            <a:r>
              <a:rPr lang="en-US" sz="1200" dirty="0"/>
              <a:t> FY2026 wholesale revenue rose </a:t>
            </a:r>
            <a:r>
              <a:rPr lang="en-US" sz="1200" b="1" dirty="0"/>
              <a:t>6% to $27.5bn</a:t>
            </a:r>
            <a:r>
              <a:rPr lang="en-US" sz="1200" dirty="0"/>
              <a:t>, while NIKE Direct fell </a:t>
            </a:r>
            <a:r>
              <a:rPr lang="en-US" sz="1200" b="1" dirty="0"/>
              <a:t>6% to $17.7bn</a:t>
            </a:r>
            <a:r>
              <a:rPr lang="en-US" sz="1200" dirty="0"/>
              <a:t>.</a:t>
            </a:r>
          </a:p>
        </p:txBody>
      </p:sp>
      <p:cxnSp>
        <p:nvCxnSpPr>
          <p:cNvPr id="24" name="Straight Connector 23"/>
          <p:cNvCxnSpPr/>
          <p:nvPr/>
        </p:nvCxnSpPr>
        <p:spPr>
          <a:xfrm flipV="1">
            <a:off x="1066800" y="1611695"/>
            <a:ext cx="10058400" cy="3770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28671" y="6091979"/>
            <a:ext cx="530375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 smtClean="0">
                <a:solidFill>
                  <a:schemeClr val="bg2">
                    <a:lumMod val="75000"/>
                  </a:schemeClr>
                </a:solidFill>
              </a:rPr>
              <a:t>Source: Nike annual report FY26 Form-K, </a:t>
            </a:r>
            <a:r>
              <a:rPr lang="en-US" sz="1200" i="1" dirty="0">
                <a:solidFill>
                  <a:schemeClr val="bg2">
                    <a:lumMod val="75000"/>
                  </a:schemeClr>
                </a:solidFill>
              </a:rPr>
              <a:t>NIKE Q1 FY2027 Form 10-Q</a:t>
            </a:r>
          </a:p>
        </p:txBody>
      </p:sp>
    </p:spTree>
    <p:extLst>
      <p:ext uri="{BB962C8B-B14F-4D97-AF65-F5344CB8AC3E}">
        <p14:creationId xmlns:p14="http://schemas.microsoft.com/office/powerpoint/2010/main" val="37796470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NIKE.INC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3659F-A41F-428F-A6B9-6639D9FC0DA7}" type="slidenum">
              <a:rPr lang="en-US" smtClean="0"/>
              <a:t>4</a:t>
            </a:fld>
            <a:endParaRPr lang="en-US"/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1097280" y="286603"/>
            <a:ext cx="10058400" cy="51467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600" b="1" dirty="0" smtClean="0">
                <a:solidFill>
                  <a:srgbClr val="BD582C"/>
                </a:solidFill>
                <a:latin typeface="+mn-lt"/>
              </a:rPr>
              <a:t>Financial Snapshot</a:t>
            </a:r>
            <a:endParaRPr lang="en-US" sz="2400" b="1" i="1" dirty="0">
              <a:solidFill>
                <a:srgbClr val="BD582C"/>
              </a:solidFill>
              <a:latin typeface="+mn-lt"/>
            </a:endParaRPr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3183310"/>
              </p:ext>
            </p:extLst>
          </p:nvPr>
        </p:nvGraphicFramePr>
        <p:xfrm>
          <a:off x="6417594" y="879865"/>
          <a:ext cx="5394961" cy="2587608"/>
        </p:xfrm>
        <a:graphic>
          <a:graphicData uri="http://schemas.openxmlformats.org/drawingml/2006/table">
            <a:tbl>
              <a:tblPr/>
              <a:tblGrid>
                <a:gridCol w="18882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13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13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013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0134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013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84480"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lnSpc>
                          <a:spcPts val="1528"/>
                        </a:lnSpc>
                        <a:buNone/>
                      </a:pPr>
                      <a:r>
                        <a:rPr lang="en-US" sz="14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Particulars</a:t>
                      </a:r>
                      <a:endParaRPr lang="en-US" sz="14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8506" marR="48506" marT="48506" marB="48506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75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ts val="1528"/>
                        </a:lnSpc>
                        <a:buNone/>
                      </a:pPr>
                      <a:r>
                        <a:rPr lang="en-US" sz="1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FY22</a:t>
                      </a:r>
                    </a:p>
                  </a:txBody>
                  <a:tcPr marL="48506" marR="48506" marT="48506" marB="48506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75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ts val="1528"/>
                        </a:lnSpc>
                        <a:buNone/>
                      </a:pPr>
                      <a:r>
                        <a:rPr lang="en-US" sz="1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FY23</a:t>
                      </a:r>
                    </a:p>
                  </a:txBody>
                  <a:tcPr marL="48506" marR="48506" marT="48506" marB="48506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75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ts val="1528"/>
                        </a:lnSpc>
                        <a:buNone/>
                      </a:pPr>
                      <a:r>
                        <a:rPr lang="en-US" sz="1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FY24</a:t>
                      </a:r>
                    </a:p>
                  </a:txBody>
                  <a:tcPr marL="48506" marR="48506" marT="48506" marB="48506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75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ts val="1528"/>
                        </a:lnSpc>
                        <a:buNone/>
                      </a:pPr>
                      <a:r>
                        <a:rPr lang="en-US" sz="1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FY25</a:t>
                      </a:r>
                    </a:p>
                  </a:txBody>
                  <a:tcPr marL="48506" marR="48506" marT="48506" marB="48506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75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ts val="1528"/>
                        </a:lnSpc>
                        <a:buNone/>
                      </a:pPr>
                      <a:r>
                        <a:rPr lang="en-US" sz="1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FY26</a:t>
                      </a:r>
                    </a:p>
                  </a:txBody>
                  <a:tcPr marL="48506" marR="48506" marT="48506" marB="48506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752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4480"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lnSpc>
                          <a:spcPts val="1528"/>
                        </a:lnSpc>
                        <a:buNone/>
                      </a:pP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Revenue </a:t>
                      </a:r>
                      <a:r>
                        <a:rPr lang="en-US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growth </a:t>
                      </a:r>
                      <a:endParaRPr 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8506" marR="48506" marT="48506" marB="48506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indent="0" algn="r" defTabSz="914400" rtl="0" eaLnBrk="1" latinLnBrk="0" hangingPunct="1">
                        <a:lnSpc>
                          <a:spcPts val="1528"/>
                        </a:lnSpc>
                        <a:buNone/>
                      </a:pP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4.9%</a:t>
                      </a:r>
                    </a:p>
                  </a:txBody>
                  <a:tcPr marL="48506" marR="48506" marT="48506" marB="48506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indent="0" algn="r" defTabSz="914400" rtl="0" eaLnBrk="1" latinLnBrk="0" hangingPunct="1">
                        <a:lnSpc>
                          <a:spcPts val="1528"/>
                        </a:lnSpc>
                        <a:buNone/>
                      </a:pP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9.6%</a:t>
                      </a:r>
                    </a:p>
                  </a:txBody>
                  <a:tcPr marL="48506" marR="48506" marT="48506" marB="48506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indent="0" algn="r" defTabSz="914400" rtl="0" eaLnBrk="1" latinLnBrk="0" hangingPunct="1">
                        <a:lnSpc>
                          <a:spcPts val="1528"/>
                        </a:lnSpc>
                        <a:buNone/>
                      </a:pP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0.3%</a:t>
                      </a:r>
                    </a:p>
                  </a:txBody>
                  <a:tcPr marL="48506" marR="48506" marT="48506" marB="48506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indent="0" algn="r" defTabSz="914400" rtl="0" eaLnBrk="1" latinLnBrk="0" hangingPunct="1">
                        <a:lnSpc>
                          <a:spcPts val="1528"/>
                        </a:lnSpc>
                        <a:buNone/>
                      </a:pP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–9.8%</a:t>
                      </a:r>
                    </a:p>
                  </a:txBody>
                  <a:tcPr marL="48506" marR="48506" marT="48506" marB="48506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indent="0" algn="r" defTabSz="914400" rtl="0" eaLnBrk="1" latinLnBrk="0" hangingPunct="1">
                        <a:lnSpc>
                          <a:spcPts val="1528"/>
                        </a:lnSpc>
                        <a:buNone/>
                      </a:pP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0.2%</a:t>
                      </a:r>
                    </a:p>
                  </a:txBody>
                  <a:tcPr marL="48506" marR="48506" marT="48506" marB="48506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4480"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lnSpc>
                          <a:spcPts val="1528"/>
                        </a:lnSpc>
                        <a:buNone/>
                      </a:pP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Gross margin</a:t>
                      </a:r>
                    </a:p>
                  </a:txBody>
                  <a:tcPr marL="48506" marR="48506" marT="48506" marB="48506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 defTabSz="914400" rtl="0" eaLnBrk="1" latinLnBrk="0" hangingPunct="1">
                        <a:lnSpc>
                          <a:spcPts val="1528"/>
                        </a:lnSpc>
                        <a:buNone/>
                      </a:pP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46.0%</a:t>
                      </a:r>
                    </a:p>
                  </a:txBody>
                  <a:tcPr marL="48506" marR="48506" marT="48506" marB="48506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 defTabSz="914400" rtl="0" eaLnBrk="1" latinLnBrk="0" hangingPunct="1">
                        <a:lnSpc>
                          <a:spcPts val="1528"/>
                        </a:lnSpc>
                        <a:buNone/>
                      </a:pP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43.5%</a:t>
                      </a:r>
                    </a:p>
                  </a:txBody>
                  <a:tcPr marL="48506" marR="48506" marT="48506" marB="48506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 defTabSz="914400" rtl="0" eaLnBrk="1" latinLnBrk="0" hangingPunct="1">
                        <a:lnSpc>
                          <a:spcPts val="1528"/>
                        </a:lnSpc>
                        <a:buNone/>
                      </a:pP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44.6%</a:t>
                      </a:r>
                    </a:p>
                  </a:txBody>
                  <a:tcPr marL="48506" marR="48506" marT="48506" marB="48506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 defTabSz="914400" rtl="0" eaLnBrk="1" latinLnBrk="0" hangingPunct="1">
                        <a:lnSpc>
                          <a:spcPts val="1528"/>
                        </a:lnSpc>
                        <a:buNone/>
                      </a:pP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42.7%</a:t>
                      </a:r>
                    </a:p>
                  </a:txBody>
                  <a:tcPr marL="48506" marR="48506" marT="48506" marB="48506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 defTabSz="914400" rtl="0" eaLnBrk="1" latinLnBrk="0" hangingPunct="1">
                        <a:lnSpc>
                          <a:spcPts val="1528"/>
                        </a:lnSpc>
                        <a:buNone/>
                      </a:pP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42.9%</a:t>
                      </a:r>
                    </a:p>
                  </a:txBody>
                  <a:tcPr marL="48506" marR="48506" marT="48506" marB="48506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4480"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lnSpc>
                          <a:spcPts val="1528"/>
                        </a:lnSpc>
                        <a:buNone/>
                      </a:pP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EBITDA</a:t>
                      </a:r>
                    </a:p>
                  </a:txBody>
                  <a:tcPr marL="48506" marR="48506" marT="48506" marB="48506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indent="0" algn="r" defTabSz="914400" rtl="0" eaLnBrk="1" latinLnBrk="0" hangingPunct="1">
                        <a:lnSpc>
                          <a:spcPts val="1528"/>
                        </a:lnSpc>
                        <a:buNone/>
                      </a:pP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7,392</a:t>
                      </a:r>
                    </a:p>
                  </a:txBody>
                  <a:tcPr marL="48506" marR="48506" marT="48506" marB="48506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indent="0" algn="r" defTabSz="914400" rtl="0" eaLnBrk="1" latinLnBrk="0" hangingPunct="1">
                        <a:lnSpc>
                          <a:spcPts val="1528"/>
                        </a:lnSpc>
                        <a:buNone/>
                      </a:pP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6,618</a:t>
                      </a:r>
                    </a:p>
                  </a:txBody>
                  <a:tcPr marL="48506" marR="48506" marT="48506" marB="48506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indent="0" algn="r" defTabSz="914400" rtl="0" eaLnBrk="1" latinLnBrk="0" hangingPunct="1">
                        <a:lnSpc>
                          <a:spcPts val="1528"/>
                        </a:lnSpc>
                        <a:buNone/>
                      </a:pP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7,107</a:t>
                      </a:r>
                    </a:p>
                  </a:txBody>
                  <a:tcPr marL="48506" marR="48506" marT="48506" marB="48506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indent="0" algn="r" defTabSz="914400" rtl="0" eaLnBrk="1" latinLnBrk="0" hangingPunct="1">
                        <a:lnSpc>
                          <a:spcPts val="1528"/>
                        </a:lnSpc>
                        <a:buNone/>
                      </a:pP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4,477</a:t>
                      </a:r>
                    </a:p>
                  </a:txBody>
                  <a:tcPr marL="48506" marR="48506" marT="48506" marB="48506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indent="0" algn="r" defTabSz="914400" rtl="0" eaLnBrk="1" latinLnBrk="0" hangingPunct="1">
                        <a:lnSpc>
                          <a:spcPts val="1528"/>
                        </a:lnSpc>
                        <a:buNone/>
                      </a:pP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4,544</a:t>
                      </a:r>
                    </a:p>
                  </a:txBody>
                  <a:tcPr marL="48506" marR="48506" marT="48506" marB="48506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4480"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lnSpc>
                          <a:spcPts val="1528"/>
                        </a:lnSpc>
                        <a:buNone/>
                      </a:pP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Net income</a:t>
                      </a:r>
                    </a:p>
                  </a:txBody>
                  <a:tcPr marL="48506" marR="48506" marT="48506" marB="48506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 defTabSz="914400" rtl="0" eaLnBrk="1" latinLnBrk="0" hangingPunct="1">
                        <a:lnSpc>
                          <a:spcPts val="1528"/>
                        </a:lnSpc>
                        <a:buNone/>
                      </a:pP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6,046</a:t>
                      </a:r>
                    </a:p>
                  </a:txBody>
                  <a:tcPr marL="48506" marR="48506" marT="48506" marB="48506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 defTabSz="914400" rtl="0" eaLnBrk="1" latinLnBrk="0" hangingPunct="1">
                        <a:lnSpc>
                          <a:spcPts val="1528"/>
                        </a:lnSpc>
                        <a:buNone/>
                      </a:pP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5,070</a:t>
                      </a:r>
                    </a:p>
                  </a:txBody>
                  <a:tcPr marL="48506" marR="48506" marT="48506" marB="48506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 defTabSz="914400" rtl="0" eaLnBrk="1" latinLnBrk="0" hangingPunct="1">
                        <a:lnSpc>
                          <a:spcPts val="1528"/>
                        </a:lnSpc>
                        <a:buNone/>
                      </a:pP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5,700</a:t>
                      </a:r>
                    </a:p>
                  </a:txBody>
                  <a:tcPr marL="48506" marR="48506" marT="48506" marB="48506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 defTabSz="914400" rtl="0" eaLnBrk="1" latinLnBrk="0" hangingPunct="1">
                        <a:lnSpc>
                          <a:spcPts val="1528"/>
                        </a:lnSpc>
                        <a:buNone/>
                      </a:pP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3,219</a:t>
                      </a:r>
                    </a:p>
                  </a:txBody>
                  <a:tcPr marL="48506" marR="48506" marT="48506" marB="48506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 defTabSz="914400" rtl="0" eaLnBrk="1" latinLnBrk="0" hangingPunct="1">
                        <a:lnSpc>
                          <a:spcPts val="1528"/>
                        </a:lnSpc>
                        <a:buNone/>
                      </a:pP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3,108</a:t>
                      </a:r>
                    </a:p>
                  </a:txBody>
                  <a:tcPr marL="48506" marR="48506" marT="48506" marB="48506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4480"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lnSpc>
                          <a:spcPts val="1528"/>
                        </a:lnSpc>
                        <a:buNone/>
                      </a:pP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Diluted EPS ($)</a:t>
                      </a:r>
                    </a:p>
                  </a:txBody>
                  <a:tcPr marL="48506" marR="48506" marT="48506" marB="48506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indent="0" algn="r" defTabSz="914400" rtl="0" eaLnBrk="1" latinLnBrk="0" hangingPunct="1">
                        <a:lnSpc>
                          <a:spcPts val="1528"/>
                        </a:lnSpc>
                        <a:buNone/>
                      </a:pP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3.75</a:t>
                      </a:r>
                    </a:p>
                  </a:txBody>
                  <a:tcPr marL="48506" marR="48506" marT="48506" marB="48506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indent="0" algn="r" defTabSz="914400" rtl="0" eaLnBrk="1" latinLnBrk="0" hangingPunct="1">
                        <a:lnSpc>
                          <a:spcPts val="1528"/>
                        </a:lnSpc>
                        <a:buNone/>
                      </a:pP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3.23</a:t>
                      </a:r>
                    </a:p>
                  </a:txBody>
                  <a:tcPr marL="48506" marR="48506" marT="48506" marB="48506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indent="0" algn="r" defTabSz="914400" rtl="0" eaLnBrk="1" latinLnBrk="0" hangingPunct="1">
                        <a:lnSpc>
                          <a:spcPts val="1528"/>
                        </a:lnSpc>
                        <a:buNone/>
                      </a:pP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3.73</a:t>
                      </a:r>
                    </a:p>
                  </a:txBody>
                  <a:tcPr marL="48506" marR="48506" marT="48506" marB="48506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indent="0" algn="r" defTabSz="914400" rtl="0" eaLnBrk="1" latinLnBrk="0" hangingPunct="1">
                        <a:lnSpc>
                          <a:spcPts val="1528"/>
                        </a:lnSpc>
                        <a:buNone/>
                      </a:pP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2.16</a:t>
                      </a:r>
                    </a:p>
                  </a:txBody>
                  <a:tcPr marL="48506" marR="48506" marT="48506" marB="48506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indent="0" algn="r" defTabSz="914400" rtl="0" eaLnBrk="1" latinLnBrk="0" hangingPunct="1">
                        <a:lnSpc>
                          <a:spcPts val="1528"/>
                        </a:lnSpc>
                        <a:buNone/>
                      </a:pP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2.10</a:t>
                      </a:r>
                    </a:p>
                  </a:txBody>
                  <a:tcPr marL="48506" marR="48506" marT="48506" marB="48506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4480"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lnSpc>
                          <a:spcPts val="1528"/>
                        </a:lnSpc>
                        <a:buNone/>
                      </a:pP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Free cash </a:t>
                      </a:r>
                      <a:r>
                        <a:rPr lang="en-US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flow ($m)</a:t>
                      </a:r>
                      <a:endParaRPr 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8506" marR="48506" marT="48506" marB="48506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 defTabSz="914400" rtl="0" eaLnBrk="1" latinLnBrk="0" hangingPunct="1">
                        <a:lnSpc>
                          <a:spcPts val="1528"/>
                        </a:lnSpc>
                        <a:buNone/>
                      </a:pPr>
                      <a:r>
                        <a:rPr lang="en-US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4,430</a:t>
                      </a:r>
                      <a:endParaRPr 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8506" marR="48506" marT="48506" marB="48506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 defTabSz="914400" rtl="0" eaLnBrk="1" latinLnBrk="0" hangingPunct="1">
                        <a:lnSpc>
                          <a:spcPts val="1528"/>
                        </a:lnSpc>
                        <a:buNone/>
                      </a:pP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4,872</a:t>
                      </a:r>
                    </a:p>
                  </a:txBody>
                  <a:tcPr marL="48506" marR="48506" marT="48506" marB="48506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 defTabSz="914400" rtl="0" eaLnBrk="1" latinLnBrk="0" hangingPunct="1">
                        <a:lnSpc>
                          <a:spcPts val="1528"/>
                        </a:lnSpc>
                        <a:buNone/>
                      </a:pP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6,617</a:t>
                      </a:r>
                    </a:p>
                  </a:txBody>
                  <a:tcPr marL="48506" marR="48506" marT="48506" marB="48506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 defTabSz="914400" rtl="0" eaLnBrk="1" latinLnBrk="0" hangingPunct="1">
                        <a:lnSpc>
                          <a:spcPts val="1528"/>
                        </a:lnSpc>
                        <a:buNone/>
                      </a:pP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3,268</a:t>
                      </a:r>
                    </a:p>
                  </a:txBody>
                  <a:tcPr marL="48506" marR="48506" marT="48506" marB="48506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 defTabSz="914400" rtl="0" eaLnBrk="1" latinLnBrk="0" hangingPunct="1">
                        <a:lnSpc>
                          <a:spcPts val="1528"/>
                        </a:lnSpc>
                        <a:buNone/>
                      </a:pP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2,184</a:t>
                      </a:r>
                    </a:p>
                  </a:txBody>
                  <a:tcPr marL="48506" marR="48506" marT="48506" marB="48506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4480"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lnSpc>
                          <a:spcPts val="1528"/>
                        </a:lnSpc>
                        <a:buNone/>
                      </a:pP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Inventory days</a:t>
                      </a:r>
                    </a:p>
                  </a:txBody>
                  <a:tcPr marL="48506" marR="48506" marT="48506" marB="48506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indent="0" algn="r" defTabSz="914400" rtl="0" eaLnBrk="1" latinLnBrk="0" hangingPunct="1">
                        <a:lnSpc>
                          <a:spcPts val="1528"/>
                        </a:lnSpc>
                        <a:buNone/>
                      </a:pP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122</a:t>
                      </a:r>
                    </a:p>
                  </a:txBody>
                  <a:tcPr marL="48506" marR="48506" marT="48506" marB="48506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indent="0" algn="r" defTabSz="914400" rtl="0" eaLnBrk="1" latinLnBrk="0" hangingPunct="1">
                        <a:lnSpc>
                          <a:spcPts val="1528"/>
                        </a:lnSpc>
                        <a:buNone/>
                      </a:pP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107</a:t>
                      </a:r>
                    </a:p>
                  </a:txBody>
                  <a:tcPr marL="48506" marR="48506" marT="48506" marB="48506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indent="0" algn="r" defTabSz="914400" rtl="0" eaLnBrk="1" latinLnBrk="0" hangingPunct="1">
                        <a:lnSpc>
                          <a:spcPts val="1528"/>
                        </a:lnSpc>
                        <a:buNone/>
                      </a:pP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96</a:t>
                      </a:r>
                    </a:p>
                  </a:txBody>
                  <a:tcPr marL="48506" marR="48506" marT="48506" marB="48506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indent="0" algn="r" defTabSz="914400" rtl="0" eaLnBrk="1" latinLnBrk="0" hangingPunct="1">
                        <a:lnSpc>
                          <a:spcPts val="1528"/>
                        </a:lnSpc>
                        <a:buNone/>
                      </a:pP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103</a:t>
                      </a:r>
                    </a:p>
                  </a:txBody>
                  <a:tcPr marL="48506" marR="48506" marT="48506" marB="48506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indent="0" algn="r" defTabSz="914400" rtl="0" eaLnBrk="1" latinLnBrk="0" hangingPunct="1">
                        <a:lnSpc>
                          <a:spcPts val="1528"/>
                        </a:lnSpc>
                        <a:buNone/>
                      </a:pP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103</a:t>
                      </a:r>
                    </a:p>
                  </a:txBody>
                  <a:tcPr marL="48506" marR="48506" marT="48506" marB="48506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4480"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lnSpc>
                          <a:spcPts val="1528"/>
                        </a:lnSpc>
                        <a:buNone/>
                      </a:pP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Dividend / share ($)</a:t>
                      </a:r>
                    </a:p>
                  </a:txBody>
                  <a:tcPr marL="48506" marR="48506" marT="48506" marB="48506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 defTabSz="914400" rtl="0" eaLnBrk="1" latinLnBrk="0" hangingPunct="1">
                        <a:lnSpc>
                          <a:spcPts val="1528"/>
                        </a:lnSpc>
                        <a:buNone/>
                      </a:pP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1.19</a:t>
                      </a:r>
                    </a:p>
                  </a:txBody>
                  <a:tcPr marL="48506" marR="48506" marT="48506" marB="48506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 defTabSz="914400" rtl="0" eaLnBrk="1" latinLnBrk="0" hangingPunct="1">
                        <a:lnSpc>
                          <a:spcPts val="1528"/>
                        </a:lnSpc>
                        <a:buNone/>
                      </a:pP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1.33</a:t>
                      </a:r>
                    </a:p>
                  </a:txBody>
                  <a:tcPr marL="48506" marR="48506" marT="48506" marB="48506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 defTabSz="914400" rtl="0" eaLnBrk="1" latinLnBrk="0" hangingPunct="1">
                        <a:lnSpc>
                          <a:spcPts val="1528"/>
                        </a:lnSpc>
                        <a:buNone/>
                      </a:pP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1.45</a:t>
                      </a:r>
                    </a:p>
                  </a:txBody>
                  <a:tcPr marL="48506" marR="48506" marT="48506" marB="48506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 defTabSz="914400" rtl="0" eaLnBrk="1" latinLnBrk="0" hangingPunct="1">
                        <a:lnSpc>
                          <a:spcPts val="1528"/>
                        </a:lnSpc>
                        <a:buNone/>
                      </a:pP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1.57</a:t>
                      </a:r>
                    </a:p>
                  </a:txBody>
                  <a:tcPr marL="48506" marR="48506" marT="48506" marB="48506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 defTabSz="914400" rtl="0" eaLnBrk="1" latinLnBrk="0" hangingPunct="1">
                        <a:lnSpc>
                          <a:spcPts val="1528"/>
                        </a:lnSpc>
                        <a:buNone/>
                      </a:pP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1.63</a:t>
                      </a:r>
                    </a:p>
                  </a:txBody>
                  <a:tcPr marL="48506" marR="48506" marT="48506" marB="48506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25" name="Chart 24"/>
          <p:cNvGraphicFramePr/>
          <p:nvPr>
            <p:extLst>
              <p:ext uri="{D42A27DB-BD31-4B8C-83A1-F6EECF244321}">
                <p14:modId xmlns:p14="http://schemas.microsoft.com/office/powerpoint/2010/main" val="1823614587"/>
              </p:ext>
            </p:extLst>
          </p:nvPr>
        </p:nvGraphicFramePr>
        <p:xfrm>
          <a:off x="1097280" y="3453038"/>
          <a:ext cx="4870810" cy="278743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28" name="Chart 27"/>
          <p:cNvGraphicFramePr/>
          <p:nvPr>
            <p:extLst>
              <p:ext uri="{D42A27DB-BD31-4B8C-83A1-F6EECF244321}">
                <p14:modId xmlns:p14="http://schemas.microsoft.com/office/powerpoint/2010/main" val="3910998219"/>
              </p:ext>
            </p:extLst>
          </p:nvPr>
        </p:nvGraphicFramePr>
        <p:xfrm>
          <a:off x="6590304" y="3697425"/>
          <a:ext cx="5222251" cy="256398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cxnSp>
        <p:nvCxnSpPr>
          <p:cNvPr id="30" name="Straight Connector 29"/>
          <p:cNvCxnSpPr/>
          <p:nvPr/>
        </p:nvCxnSpPr>
        <p:spPr>
          <a:xfrm>
            <a:off x="6126480" y="973998"/>
            <a:ext cx="0" cy="2377440"/>
          </a:xfrm>
          <a:prstGeom prst="line">
            <a:avLst/>
          </a:prstGeom>
          <a:ln w="9525" cap="flat" cmpd="sng" algn="ctr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1" name="Straight Connector 30"/>
          <p:cNvCxnSpPr/>
          <p:nvPr/>
        </p:nvCxnSpPr>
        <p:spPr>
          <a:xfrm>
            <a:off x="6126480" y="3591995"/>
            <a:ext cx="0" cy="2377440"/>
          </a:xfrm>
          <a:prstGeom prst="line">
            <a:avLst/>
          </a:prstGeom>
          <a:ln w="9525" cap="flat" cmpd="sng" algn="ctr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aphicFrame>
        <p:nvGraphicFramePr>
          <p:cNvPr id="10" name="Chart 9"/>
          <p:cNvGraphicFramePr/>
          <p:nvPr>
            <p:extLst>
              <p:ext uri="{D42A27DB-BD31-4B8C-83A1-F6EECF244321}">
                <p14:modId xmlns:p14="http://schemas.microsoft.com/office/powerpoint/2010/main" val="2035843341"/>
              </p:ext>
            </p:extLst>
          </p:nvPr>
        </p:nvGraphicFramePr>
        <p:xfrm>
          <a:off x="1097280" y="801278"/>
          <a:ext cx="4480560" cy="2651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27322602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NIKE.INC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3659F-A41F-428F-A6B9-6639D9FC0DA7}" type="slidenum">
              <a:rPr lang="en-US" smtClean="0"/>
              <a:t>5</a:t>
            </a:fld>
            <a:endParaRPr lang="en-US"/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1097280" y="286603"/>
            <a:ext cx="10058400" cy="51467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600" b="1" dirty="0" smtClean="0">
                <a:solidFill>
                  <a:srgbClr val="BD582C"/>
                </a:solidFill>
                <a:latin typeface="+mn-lt"/>
              </a:rPr>
              <a:t>Shareholding Structure &amp; Recent Acquisitions</a:t>
            </a:r>
            <a:endParaRPr lang="en-US" sz="2400" b="1" i="1" dirty="0">
              <a:solidFill>
                <a:srgbClr val="BD582C"/>
              </a:solidFill>
              <a:latin typeface="+mn-lt"/>
            </a:endParaRPr>
          </a:p>
        </p:txBody>
      </p:sp>
      <p:graphicFrame>
        <p:nvGraphicFramePr>
          <p:cNvPr id="11" name="Chart 10"/>
          <p:cNvGraphicFramePr/>
          <p:nvPr>
            <p:extLst>
              <p:ext uri="{D42A27DB-BD31-4B8C-83A1-F6EECF244321}">
                <p14:modId xmlns:p14="http://schemas.microsoft.com/office/powerpoint/2010/main" val="935948923"/>
              </p:ext>
            </p:extLst>
          </p:nvPr>
        </p:nvGraphicFramePr>
        <p:xfrm>
          <a:off x="2248545" y="806052"/>
          <a:ext cx="6776720" cy="282447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2" name="Rectangle 11"/>
          <p:cNvSpPr/>
          <p:nvPr/>
        </p:nvSpPr>
        <p:spPr>
          <a:xfrm>
            <a:off x="1097280" y="4087614"/>
            <a:ext cx="310854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kern="0" spc="100" dirty="0" smtClean="0">
                <a:solidFill>
                  <a:srgbClr val="BD58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RECENT ACQUISITIONS</a:t>
            </a:r>
            <a:endParaRPr lang="en-US" dirty="0">
              <a:solidFill>
                <a:srgbClr val="BD582C"/>
              </a:solidFill>
            </a:endParaRPr>
          </a:p>
        </p:txBody>
      </p:sp>
      <p:grpSp>
        <p:nvGrpSpPr>
          <p:cNvPr id="13" name="Group 12"/>
          <p:cNvGrpSpPr/>
          <p:nvPr/>
        </p:nvGrpSpPr>
        <p:grpSpPr>
          <a:xfrm>
            <a:off x="1097280" y="4726939"/>
            <a:ext cx="2377440" cy="1097280"/>
            <a:chOff x="1241820" y="3683547"/>
            <a:chExt cx="2262472" cy="964606"/>
          </a:xfrm>
        </p:grpSpPr>
        <p:sp>
          <p:nvSpPr>
            <p:cNvPr id="14" name="TextBox 13"/>
            <p:cNvSpPr txBox="1"/>
            <p:nvPr/>
          </p:nvSpPr>
          <p:spPr>
            <a:xfrm>
              <a:off x="1401172" y="3694046"/>
              <a:ext cx="2103120" cy="946970"/>
            </a:xfrm>
            <a:prstGeom prst="rect">
              <a:avLst/>
            </a:prstGeom>
            <a:solidFill>
              <a:srgbClr val="F57523">
                <a:alpha val="20000"/>
              </a:srgbClr>
            </a:solidFill>
          </p:spPr>
          <p:txBody>
            <a:bodyPr wrap="square" rtlCol="0">
              <a:spAutoFit/>
            </a:bodyPr>
            <a:lstStyle/>
            <a:p>
              <a:r>
                <a:rPr lang="en-US" sz="1600" b="1" dirty="0" smtClean="0"/>
                <a:t>CELECT</a:t>
              </a:r>
            </a:p>
            <a:p>
              <a:r>
                <a:rPr lang="en-US" sz="1600" i="1" dirty="0" smtClean="0">
                  <a:solidFill>
                    <a:srgbClr val="6B6B6B"/>
                  </a:solidFill>
                </a:rPr>
                <a:t>2019</a:t>
              </a:r>
            </a:p>
            <a:p>
              <a:r>
                <a:rPr lang="en-US" sz="1600" dirty="0"/>
                <a:t>Predictive retail analytics	</a:t>
              </a: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241820" y="3683547"/>
              <a:ext cx="160010" cy="964606"/>
            </a:xfrm>
            <a:prstGeom prst="rect">
              <a:avLst/>
            </a:prstGeom>
            <a:solidFill>
              <a:srgbClr val="F5752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3715428" y="4718820"/>
            <a:ext cx="2544890" cy="1097280"/>
            <a:chOff x="1241820" y="3683547"/>
            <a:chExt cx="2421824" cy="964606"/>
          </a:xfrm>
        </p:grpSpPr>
        <p:sp>
          <p:nvSpPr>
            <p:cNvPr id="17" name="TextBox 16"/>
            <p:cNvSpPr txBox="1"/>
            <p:nvPr/>
          </p:nvSpPr>
          <p:spPr>
            <a:xfrm>
              <a:off x="1401172" y="3694045"/>
              <a:ext cx="2262472" cy="948529"/>
            </a:xfrm>
            <a:prstGeom prst="rect">
              <a:avLst/>
            </a:prstGeom>
            <a:solidFill>
              <a:srgbClr val="F57523">
                <a:alpha val="20000"/>
              </a:srgbClr>
            </a:solidFill>
          </p:spPr>
          <p:txBody>
            <a:bodyPr wrap="square" rtlCol="0">
              <a:spAutoFit/>
            </a:bodyPr>
            <a:lstStyle/>
            <a:p>
              <a:r>
                <a:rPr lang="en-US" sz="1600" b="1" dirty="0" err="1" smtClean="0"/>
                <a:t>TraceMe</a:t>
              </a:r>
              <a:endParaRPr lang="en-US" sz="1600" b="1" dirty="0" smtClean="0"/>
            </a:p>
            <a:p>
              <a:r>
                <a:rPr lang="en-US" sz="1600" i="1" dirty="0" smtClean="0">
                  <a:solidFill>
                    <a:srgbClr val="6B6B6B"/>
                  </a:solidFill>
                </a:rPr>
                <a:t>2019</a:t>
              </a:r>
            </a:p>
            <a:p>
              <a:r>
                <a:rPr lang="en-US" sz="1600" dirty="0" smtClean="0"/>
                <a:t>Fan Engagement</a:t>
              </a:r>
              <a:r>
                <a:rPr lang="en-US" sz="1600" dirty="0"/>
                <a:t>	</a:t>
              </a:r>
            </a:p>
          </p:txBody>
        </p:sp>
        <p:sp>
          <p:nvSpPr>
            <p:cNvPr id="18" name="Rectangle 17"/>
            <p:cNvSpPr/>
            <p:nvPr/>
          </p:nvSpPr>
          <p:spPr>
            <a:xfrm>
              <a:off x="1241820" y="3683547"/>
              <a:ext cx="160010" cy="964606"/>
            </a:xfrm>
            <a:prstGeom prst="rect">
              <a:avLst/>
            </a:prstGeom>
            <a:solidFill>
              <a:srgbClr val="F5752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</p:grpSp>
      <p:grpSp>
        <p:nvGrpSpPr>
          <p:cNvPr id="19" name="Group 18"/>
          <p:cNvGrpSpPr/>
          <p:nvPr/>
        </p:nvGrpSpPr>
        <p:grpSpPr>
          <a:xfrm>
            <a:off x="6417303" y="4726939"/>
            <a:ext cx="2377439" cy="1097280"/>
            <a:chOff x="1241820" y="3683547"/>
            <a:chExt cx="2262471" cy="964606"/>
          </a:xfrm>
        </p:grpSpPr>
        <p:sp>
          <p:nvSpPr>
            <p:cNvPr id="20" name="TextBox 19"/>
            <p:cNvSpPr txBox="1"/>
            <p:nvPr/>
          </p:nvSpPr>
          <p:spPr>
            <a:xfrm>
              <a:off x="1401172" y="3694043"/>
              <a:ext cx="2103119" cy="948529"/>
            </a:xfrm>
            <a:prstGeom prst="rect">
              <a:avLst/>
            </a:prstGeom>
            <a:solidFill>
              <a:srgbClr val="F57523">
                <a:alpha val="20000"/>
              </a:srgbClr>
            </a:solidFill>
          </p:spPr>
          <p:txBody>
            <a:bodyPr wrap="square" rtlCol="0">
              <a:spAutoFit/>
            </a:bodyPr>
            <a:lstStyle/>
            <a:p>
              <a:r>
                <a:rPr lang="en-US" sz="1600" b="1" dirty="0" err="1" smtClean="0"/>
                <a:t>Datalogue</a:t>
              </a:r>
              <a:endParaRPr lang="en-US" sz="1600" b="1" dirty="0" smtClean="0"/>
            </a:p>
            <a:p>
              <a:r>
                <a:rPr lang="en-US" sz="1600" i="1" dirty="0">
                  <a:solidFill>
                    <a:srgbClr val="6B6B6B"/>
                  </a:solidFill>
                </a:rPr>
                <a:t>2021 </a:t>
              </a:r>
            </a:p>
            <a:p>
              <a:r>
                <a:rPr lang="en-US" sz="1600" dirty="0"/>
                <a:t>Data integration / ML 	</a:t>
              </a:r>
            </a:p>
          </p:txBody>
        </p:sp>
        <p:sp>
          <p:nvSpPr>
            <p:cNvPr id="21" name="Rectangle 20"/>
            <p:cNvSpPr/>
            <p:nvPr/>
          </p:nvSpPr>
          <p:spPr>
            <a:xfrm>
              <a:off x="1241820" y="3683547"/>
              <a:ext cx="160010" cy="964606"/>
            </a:xfrm>
            <a:prstGeom prst="rect">
              <a:avLst/>
            </a:prstGeom>
            <a:solidFill>
              <a:srgbClr val="F5752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</p:grpSp>
      <p:grpSp>
        <p:nvGrpSpPr>
          <p:cNvPr id="22" name="Group 21"/>
          <p:cNvGrpSpPr/>
          <p:nvPr/>
        </p:nvGrpSpPr>
        <p:grpSpPr>
          <a:xfrm>
            <a:off x="8951727" y="4731513"/>
            <a:ext cx="2377440" cy="1097280"/>
            <a:chOff x="1241820" y="3683547"/>
            <a:chExt cx="2262472" cy="964606"/>
          </a:xfrm>
        </p:grpSpPr>
        <p:sp>
          <p:nvSpPr>
            <p:cNvPr id="23" name="TextBox 22"/>
            <p:cNvSpPr txBox="1"/>
            <p:nvPr/>
          </p:nvSpPr>
          <p:spPr>
            <a:xfrm>
              <a:off x="1401172" y="3694043"/>
              <a:ext cx="2103120" cy="948529"/>
            </a:xfrm>
            <a:prstGeom prst="rect">
              <a:avLst/>
            </a:prstGeom>
            <a:solidFill>
              <a:srgbClr val="F57523">
                <a:alpha val="20000"/>
              </a:srgbClr>
            </a:solidFill>
          </p:spPr>
          <p:txBody>
            <a:bodyPr wrap="square" rtlCol="0">
              <a:spAutoFit/>
            </a:bodyPr>
            <a:lstStyle/>
            <a:p>
              <a:r>
                <a:rPr lang="en-US" sz="1600" b="1" dirty="0" smtClean="0"/>
                <a:t>RTFKT</a:t>
              </a:r>
            </a:p>
            <a:p>
              <a:r>
                <a:rPr lang="en-US" sz="1600" i="1" dirty="0">
                  <a:solidFill>
                    <a:srgbClr val="6B6B6B"/>
                  </a:solidFill>
                </a:rPr>
                <a:t>2021</a:t>
              </a:r>
            </a:p>
            <a:p>
              <a:r>
                <a:rPr lang="en-US" sz="1600" dirty="0"/>
                <a:t>Digital fashion / virtual goods </a:t>
              </a:r>
              <a:r>
                <a:rPr lang="en-US" sz="1400" i="1" dirty="0" smtClean="0">
                  <a:solidFill>
                    <a:schemeClr val="bg1">
                      <a:lumMod val="65000"/>
                    </a:schemeClr>
                  </a:solidFill>
                </a:rPr>
                <a:t>(former subsidiary)</a:t>
              </a:r>
              <a:r>
                <a:rPr lang="en-US" sz="1400" i="1" dirty="0">
                  <a:solidFill>
                    <a:schemeClr val="bg1">
                      <a:lumMod val="65000"/>
                    </a:schemeClr>
                  </a:solidFill>
                </a:rPr>
                <a:t>	</a:t>
              </a:r>
            </a:p>
          </p:txBody>
        </p:sp>
        <p:sp>
          <p:nvSpPr>
            <p:cNvPr id="24" name="Rectangle 23"/>
            <p:cNvSpPr/>
            <p:nvPr/>
          </p:nvSpPr>
          <p:spPr>
            <a:xfrm>
              <a:off x="1241820" y="3683547"/>
              <a:ext cx="160010" cy="964606"/>
            </a:xfrm>
            <a:prstGeom prst="rect">
              <a:avLst/>
            </a:prstGeom>
            <a:solidFill>
              <a:srgbClr val="F5752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</p:grpSp>
      <p:sp>
        <p:nvSpPr>
          <p:cNvPr id="25" name="TextBox 24"/>
          <p:cNvSpPr txBox="1"/>
          <p:nvPr/>
        </p:nvSpPr>
        <p:spPr>
          <a:xfrm>
            <a:off x="28671" y="6091979"/>
            <a:ext cx="530375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 smtClean="0">
                <a:solidFill>
                  <a:schemeClr val="bg2">
                    <a:lumMod val="75000"/>
                  </a:schemeClr>
                </a:solidFill>
              </a:rPr>
              <a:t>Source: Nike 2026 Proxy Statement, company press releases</a:t>
            </a:r>
            <a:endParaRPr lang="en-US" sz="1200" i="1" dirty="0">
              <a:solidFill>
                <a:schemeClr val="bg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662336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543</TotalTime>
  <Words>398</Words>
  <Application>Microsoft Office PowerPoint</Application>
  <PresentationFormat>Widescreen</PresentationFormat>
  <Paragraphs>141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Retrospect</vt:lpstr>
      <vt:lpstr>Company Profile: NIKE, INC NYSE: NKE</vt:lpstr>
      <vt:lpstr>COMPANY OVERVIEW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Company Profile: NIKE, INC NYSE: NKE</dc:title>
  <dc:creator>Windows User</dc:creator>
  <cp:lastModifiedBy>Windows User</cp:lastModifiedBy>
  <cp:revision>55</cp:revision>
  <dcterms:created xsi:type="dcterms:W3CDTF">2026-10-17T09:33:31Z</dcterms:created>
  <dcterms:modified xsi:type="dcterms:W3CDTF">2026-10-18T16:02:40Z</dcterms:modified>
</cp:coreProperties>
</file>